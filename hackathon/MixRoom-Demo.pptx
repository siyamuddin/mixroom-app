
<file path=[Content_Types].xml><?xml version="1.0" encoding="utf-8"?>
<Types xmlns="http://schemas.openxmlformats.org/package/2006/content-types">
  <Default Extension="xml" ContentType="application/vnd.openxmlformats-package.core-properties+xml"/>
  <Default Extension="jpeg" ContentType="image/jpe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6da3c51ce6d44cd4" /><Relationship Type="http://schemas.openxmlformats.org/officeDocument/2006/relationships/extended-properties" Target="/docProps/app.xml" Id="R1b9990f96f0e437b" /><Relationship Type="http://schemas.openxmlformats.org/officeDocument/2006/relationships/officeDocument" Target="/ppt/presentation.xml" Id="R878ce74d057948b4" /></Relationships>
</file>

<file path=ppt/presentation.xml><?xml version="1.0" encoding="utf-8"?>
<p:presentation xmlns:p="http://schemas.openxmlformats.org/presentationml/2006/main">
  <p:sldMasterIdLst>
    <p:sldMasterId xmlns:r="http://schemas.openxmlformats.org/officeDocument/2006/relationships" id="2147483648" r:id="Rf81da68107d34efe"/>
  </p:sldMasterIdLst>
  <p:notesMasterIdLst>
    <p:notesMasterId xmlns:r="http://schemas.openxmlformats.org/officeDocument/2006/relationships" r:id="R72c6459fcd0c4515"/>
  </p:notesMasterIdLst>
  <p:sldIdLst>
    <p:sldId xmlns:r="http://schemas.openxmlformats.org/officeDocument/2006/relationships" id="256" r:id="R85d8ff4cb6594a2f"/>
    <p:sldId xmlns:r="http://schemas.openxmlformats.org/officeDocument/2006/relationships" id="257" r:id="Rfbf1fadb901b4774"/>
    <p:sldId xmlns:r="http://schemas.openxmlformats.org/officeDocument/2006/relationships" id="258" r:id="Rf89c013c6b9b4730"/>
    <p:sldId xmlns:r="http://schemas.openxmlformats.org/officeDocument/2006/relationships" id="259" r:id="R5f7cddb655ce4bdc"/>
    <p:sldId xmlns:r="http://schemas.openxmlformats.org/officeDocument/2006/relationships" id="260" r:id="R0b26e2b190054176"/>
    <p:sldId xmlns:r="http://schemas.openxmlformats.org/officeDocument/2006/relationships" id="261" r:id="R6b0873b49bf74b4d"/>
    <p:sldId xmlns:r="http://schemas.openxmlformats.org/officeDocument/2006/relationships" id="262" r:id="Rbc0a73d024fb4975"/>
    <p:sldId xmlns:r="http://schemas.openxmlformats.org/officeDocument/2006/relationships" id="263" r:id="R312b90d86f4e4261"/>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33e71e9ea235452e" /><Relationship Type="http://schemas.openxmlformats.org/officeDocument/2006/relationships/slideMaster" Target="/ppt/slideMasters/slideMaster1.xml" Id="Rf81da68107d34efe" /><Relationship Type="http://schemas.openxmlformats.org/officeDocument/2006/relationships/notesMaster" Target="/ppt/notesMasters/notesMaster1.xml" Id="R72c6459fcd0c4515" /><Relationship Type="http://schemas.openxmlformats.org/officeDocument/2006/relationships/presProps" Target="/ppt/presProps.xml" Id="R9ffe0f4aac964a39" /><Relationship Type="http://schemas.openxmlformats.org/officeDocument/2006/relationships/tableStyles" Target="/ppt/tableStyles.xml" Id="Ra4e90caa8e8a4802" /><Relationship Type="http://schemas.openxmlformats.org/officeDocument/2006/relationships/slide" Target="/ppt/slides/slide1.xml" Id="R85d8ff4cb6594a2f" /><Relationship Type="http://schemas.openxmlformats.org/officeDocument/2006/relationships/slide" Target="/ppt/slides/slide2.xml" Id="Rfbf1fadb901b4774" /><Relationship Type="http://schemas.openxmlformats.org/officeDocument/2006/relationships/slide" Target="/ppt/slides/slide3.xml" Id="Rf89c013c6b9b4730" /><Relationship Type="http://schemas.openxmlformats.org/officeDocument/2006/relationships/slide" Target="/ppt/slides/slide4.xml" Id="R5f7cddb655ce4bdc" /><Relationship Type="http://schemas.openxmlformats.org/officeDocument/2006/relationships/slide" Target="/ppt/slides/slide5.xml" Id="R0b26e2b190054176" /><Relationship Type="http://schemas.openxmlformats.org/officeDocument/2006/relationships/slide" Target="/ppt/slides/slide6.xml" Id="R6b0873b49bf74b4d" /><Relationship Type="http://schemas.openxmlformats.org/officeDocument/2006/relationships/slide" Target="/ppt/slides/slide7.xml" Id="Rbc0a73d024fb4975" /><Relationship Type="http://schemas.openxmlformats.org/officeDocument/2006/relationships/slide" Target="/ppt/slides/slide8.xml" Id="R312b90d86f4e4261"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1770fecfd0004259"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a5cd13b719074fff" /><Relationship Type="http://schemas.openxmlformats.org/officeDocument/2006/relationships/notesMaster" Target="/ppt/notesMasters/notesMaster1.xml" Id="Re09f95ccf3fa4e1c" /></Relationships>
</file>

<file path=ppt/notesSlides/_rels/notesSlide2.xml.rels>&#65279;<?xml version="1.0" encoding="utf-8"?><Relationships xmlns="http://schemas.openxmlformats.org/package/2006/relationships"><Relationship Type="http://schemas.openxmlformats.org/officeDocument/2006/relationships/slide" Target="/ppt/slides/slide2.xml" Id="R24b44482ac174f55" /><Relationship Type="http://schemas.openxmlformats.org/officeDocument/2006/relationships/notesMaster" Target="/ppt/notesMasters/notesMaster1.xml" Id="Redbc5faead1d4af9" /></Relationships>
</file>

<file path=ppt/notesSlides/_rels/notesSlide3.xml.rels>&#65279;<?xml version="1.0" encoding="utf-8"?><Relationships xmlns="http://schemas.openxmlformats.org/package/2006/relationships"><Relationship Type="http://schemas.openxmlformats.org/officeDocument/2006/relationships/slide" Target="/ppt/slides/slide3.xml" Id="R62e97af3ed3e4d64" /><Relationship Type="http://schemas.openxmlformats.org/officeDocument/2006/relationships/notesMaster" Target="/ppt/notesMasters/notesMaster1.xml" Id="R2dd6ee56b92e4e71" /></Relationships>
</file>

<file path=ppt/notesSlides/_rels/notesSlide4.xml.rels>&#65279;<?xml version="1.0" encoding="utf-8"?><Relationships xmlns="http://schemas.openxmlformats.org/package/2006/relationships"><Relationship Type="http://schemas.openxmlformats.org/officeDocument/2006/relationships/slide" Target="/ppt/slides/slide4.xml" Id="Rc665ee58aab24359" /><Relationship Type="http://schemas.openxmlformats.org/officeDocument/2006/relationships/notesMaster" Target="/ppt/notesMasters/notesMaster1.xml" Id="R3fdea34a33274fbd" /></Relationships>
</file>

<file path=ppt/notesSlides/_rels/notesSlide5.xml.rels>&#65279;<?xml version="1.0" encoding="utf-8"?><Relationships xmlns="http://schemas.openxmlformats.org/package/2006/relationships"><Relationship Type="http://schemas.openxmlformats.org/officeDocument/2006/relationships/slide" Target="/ppt/slides/slide5.xml" Id="Rf97ad3e0ae71438f" /><Relationship Type="http://schemas.openxmlformats.org/officeDocument/2006/relationships/notesMaster" Target="/ppt/notesMasters/notesMaster1.xml" Id="R8ecc963b01aa4cab" /></Relationships>
</file>

<file path=ppt/notesSlides/_rels/notesSlide6.xml.rels>&#65279;<?xml version="1.0" encoding="utf-8"?><Relationships xmlns="http://schemas.openxmlformats.org/package/2006/relationships"><Relationship Type="http://schemas.openxmlformats.org/officeDocument/2006/relationships/slide" Target="/ppt/slides/slide6.xml" Id="R58f7ef4cf90c482b" /><Relationship Type="http://schemas.openxmlformats.org/officeDocument/2006/relationships/notesMaster" Target="/ppt/notesMasters/notesMaster1.xml" Id="R755bf7e6763546ca" /></Relationships>
</file>

<file path=ppt/notesSlides/_rels/notesSlide7.xml.rels>&#65279;<?xml version="1.0" encoding="utf-8"?><Relationships xmlns="http://schemas.openxmlformats.org/package/2006/relationships"><Relationship Type="http://schemas.openxmlformats.org/officeDocument/2006/relationships/slide" Target="/ppt/slides/slide7.xml" Id="Rc649796f41324bc5" /><Relationship Type="http://schemas.openxmlformats.org/officeDocument/2006/relationships/notesMaster" Target="/ppt/notesMasters/notesMaster1.xml" Id="R4227cef211394498" /></Relationships>
</file>

<file path=ppt/notesSlides/_rels/notesSlide8.xml.rels>&#65279;<?xml version="1.0" encoding="utf-8"?><Relationships xmlns="http://schemas.openxmlformats.org/package/2006/relationships"><Relationship Type="http://schemas.openxmlformats.org/officeDocument/2006/relationships/slide" Target="/ppt/slides/slide8.xml" Id="R0c33b74c4b9a4036" /><Relationship Type="http://schemas.openxmlformats.org/officeDocument/2006/relationships/notesMaster" Target="/ppt/notesMasters/notesMaster1.xml" Id="Rf992874be7d64aae"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[0:00–0:10] We are Sabera and Siyam. MixRoom lets musicians run a studio session by voice while their hands stay on the instrument.</a:t>
            </a:r>
          </a:p>
          <a:p xmlns:a="http://schemas.openxmlformats.org/drawingml/2006/main">
            <a:r>
              <a:t/>
            </a:r>
          </a:p>
          <a:p xmlns:a="http://schemas.openxmlformats.org/drawingml/2006/main">
            <a:r>
              <a:t>Sources and context:</a:t>
            </a:r>
          </a:p>
          <a:p xmlns:a="http://schemas.openxmlformats.org/drawingml/2006/main">
            <a:r>
              <a:t>/Users/uddinsiyam/Desktop/digital-af/mixroom-app/docs/HACKATHON_IMPLEMENTATION.md</a:t>
            </a:r>
          </a:p>
          <a:p xmlns:a="http://schemas.openxmlformats.org/drawingml/2006/main">
            <a:r>
              <a:t>DIGITAL AF challenge brief supplied in the conversation.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[0:10–0:25] A solo musician is also the recording engineer. Starting a take, adjusting a track, and remembering an idea all compete with playing. We focus on that interruption. Customer interviews and willingness to pay still need validation.</a:t>
            </a:r>
          </a:p>
          <a:p xmlns:a="http://schemas.openxmlformats.org/drawingml/2006/main">
            <a:r>
              <a:t/>
            </a:r>
          </a:p>
          <a:p xmlns:a="http://schemas.openxmlformats.org/drawingml/2006/main">
            <a:r>
              <a:t>Sources and context:</a:t>
            </a:r>
          </a:p>
          <a:p xmlns:a="http://schemas.openxmlformats.org/drawingml/2006/main">
            <a:r>
              <a:t>Problem framing is a product hypothesis, not quantified customer research.</a:t>
            </a:r>
          </a:p>
          <a:p xmlns:a="http://schemas.openxmlformats.org/drawingml/2006/main">
            <a:r>
              <a:t>Editorial image source: https://www.westlanerecords.com/for-music-supervisors</a:t>
            </a:r>
          </a:p>
          <a:p xmlns:a="http://schemas.openxmlformats.org/drawingml/2006/main">
            <a:r>
              <a:t>Image: https://images.squarespace-cdn.com/content/v1/620f05b072311379ff1713c0/1646697128878-4GACYBAJ6SYU4ZFQQGNQ/unsplash-image-d0sXdsCnhF8.jpg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[0:25–0:40] The companion covers five jobs: spoken mix changes, before-and-after comparison with undo, timed takes, humming into editable instrument notes, and project notes. Each successful edit needs confirmation from the native app. Clarifications and failed requests remain visibly different.</a:t>
            </a:r>
          </a:p>
          <a:p xmlns:a="http://schemas.openxmlformats.org/drawingml/2006/main">
            <a:r>
              <a:t/>
            </a:r>
          </a:p>
          <a:p xmlns:a="http://schemas.openxmlformats.org/drawingml/2006/main">
            <a:r>
              <a:t>Sources and context:</a:t>
            </a:r>
          </a:p>
          <a:p xmlns:a="http://schemas.openxmlformats.org/drawingml/2006/main">
            <a:r>
              <a:t>/Users/uddinsiyam/Desktop/digital-af/mixroom-app/lib/screens/audio_editor_voice.dart</a:t>
            </a:r>
          </a:p>
          <a:p xmlns:a="http://schemas.openxmlformats.org/drawingml/2006/main">
            <a:r>
              <a:t>/Users/uddinsiyam/Desktop/digital-af/mixroom-app/voice_companion/src/voice/VoiceStudio.tsx</a:t>
            </a:r>
          </a:p>
          <a:p xmlns:a="http://schemas.openxmlformats.org/drawingml/2006/main">
            <a:r>
              <a:t>These are implemented capabilities. Real native microphone and complete GUI acceptance remain unverified at deck preparation.</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[0:40–1:25] Live demo: select an audio track and speak the displayed request. Wait for the preparation and countdown, hum a short melody, then play the original audio and MIDI result. Say “Lower Backing by two decibels,” compare before and after, and keep the preferred version. If the live acceptance checks are not complete, present this as the intended sequence and show only the checks actually completed. Do not narrate a failed or pending edit as successful.</a:t>
            </a:r>
          </a:p>
          <a:p xmlns:a="http://schemas.openxmlformats.org/drawingml/2006/main">
            <a:r>
              <a:t/>
            </a:r>
          </a:p>
          <a:p xmlns:a="http://schemas.openxmlformats.org/drawingml/2006/main">
            <a:r>
              <a:t>Sources and context:</a:t>
            </a:r>
          </a:p>
          <a:p xmlns:a="http://schemas.openxmlformats.org/drawingml/2006/main">
            <a:r>
              <a:t>/Users/uddinsiyam/Desktop/digital-af/mixroom-app/lib/screens/audio_editor_voice.dart</a:t>
            </a:r>
          </a:p>
          <a:p xmlns:a="http://schemas.openxmlformats.org/drawingml/2006/main">
            <a:r>
              <a:t>/Users/uddinsiyam/Desktop/digital-af/mixroom-app/docs/MANUAL_TESTING.md</a:t>
            </a:r>
          </a:p>
          <a:p xmlns:a="http://schemas.openxmlformats.org/drawingml/2006/main">
            <a:r>
              <a:t>Default instrument is mixroom.warm_keys. It is not an acoustic piano model. Maximum timed capture is 60 seconds. Native live-audio acceptance remains pending.</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[1:25–1:45] ElevenLabs handles command transcription and spoken replies. A small Python backend pairs the browser with the Mac and queues requests. OpenAI returns typed plans through the bundled Node planner. MixRoom executes and checks them. Recording, instruments, and Basic Pitch remain on the Mac. The same Python service has a Docker package and a local development fallback.</a:t>
            </a:r>
          </a:p>
          <a:p xmlns:a="http://schemas.openxmlformats.org/drawingml/2006/main">
            <a:r>
              <a:t/>
            </a:r>
          </a:p>
          <a:p xmlns:a="http://schemas.openxmlformats.org/drawingml/2006/main">
            <a:r>
              <a:t>Sources and context:</a:t>
            </a:r>
          </a:p>
          <a:p xmlns:a="http://schemas.openxmlformats.org/drawingml/2006/main">
            <a:r>
              <a:t>/Users/uddinsiyam/Desktop/digital-af/mixroom-app/voice_backend/README.md</a:t>
            </a:r>
          </a:p>
          <a:p xmlns:a="http://schemas.openxmlformats.org/drawingml/2006/main">
            <a:r>
              <a:t>/Users/uddinsiyam/Desktop/digital-af/mixroom-app/voice_backend/planner/README.md</a:t>
            </a:r>
          </a:p>
          <a:p xmlns:a="http://schemas.openxmlformats.org/drawingml/2006/main">
            <a:r>
              <a:t>/Users/uddinsiyam/Desktop/digital-af/mixroom-app/voice_companion/src/voice/speech.ts</a:t>
            </a:r>
          </a:p>
          <a:p xmlns:a="http://schemas.openxmlformats.org/drawingml/2006/main">
            <a:r>
              <a:t>Diagram abstracts token minting and provider connections. Browser Scribe uses a short-lived token. Backend proxies TTS. Native application sends planning context through the local service. Provider keys remain server-side.</a:t>
            </a:r>
          </a:p>
          <a:p xmlns:a="http://schemas.openxmlformats.org/drawingml/2006/main">
            <a:r>
              <a:t>The integrated companion is published at https://mix-voice-studio.lovable.app. Public browser sign-in, pairing-code creation, waiting-for-Mac state, and session revocation were verified. Jev is optional and is not configured for this demo.</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[1:45–2:00] Our first customer hypothesis is independent musicians who record every week. Next, we want five observed sessions in Seoul. We will measure completed takes without mouse use, repeat use, and willingness to pay. We have not validated pricing or paid demand yet.</a:t>
            </a:r>
          </a:p>
          <a:p xmlns:a="http://schemas.openxmlformats.org/drawingml/2006/main">
            <a:r>
              <a:t/>
            </a:r>
          </a:p>
          <a:p xmlns:a="http://schemas.openxmlformats.org/drawingml/2006/main">
            <a:r>
              <a:t>Sources and context:</a:t>
            </a:r>
          </a:p>
          <a:p xmlns:a="http://schemas.openxmlformats.org/drawingml/2006/main">
            <a:r>
              <a:t>Pilot plan and business model are hypotheses, not customer, revenue, or traction claims.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Setup appendix, outside the two-minute main pitch. Open https://mix-voice-studio.lovable.app. The HTTPS studio API is prefilled. Enter the studio password, then choose Pair your Mac. In the native Mac app, open Voice session / Connect, enter that code, and use http://127.0.0.1:8766/api/voice as the native relay URL. Public and local URLs reach the same backend. The Mac, Python backend, and Cloudflare Quick Tunnel must stay running. The temporary tunnel hostname can change after a restart. Open a project, select an audio track, and use headphones. The studio password is MIXROOM_PASSWORD in private voice_backend/.env. Do not show that file on screen. Provider keys never go in the browser or native pairing dialog. Browser sign-in, pairing-code creation, and revocation passed; native microphone and audio acceptance remain pending.</a:t>
            </a:r>
          </a:p>
          <a:p xmlns:a="http://schemas.openxmlformats.org/drawingml/2006/main">
            <a:r>
              <a:t/>
            </a:r>
          </a:p>
          <a:p xmlns:a="http://schemas.openxmlformats.org/drawingml/2006/main">
            <a:r>
              <a:t>Sources and context:</a:t>
            </a:r>
          </a:p>
          <a:p xmlns:a="http://schemas.openxmlformats.org/drawingml/2006/main">
            <a:r>
              <a:t>Verified public-site screenshot supplied by root: /tmp/mixroom-lovable-published-signin.png, JPEG content, 1710×895.</a:t>
            </a:r>
          </a:p>
          <a:p xmlns:a="http://schemas.openxmlformats.org/drawingml/2006/main">
            <a:r>
              <a:t>/Users/uddinsiyam/Desktop/digital-af/mixroom-app/docs/MANUAL_TESTING.md</a:t>
            </a:r>
          </a:p>
          <a:p xmlns:a="http://schemas.openxmlformats.org/drawingml/2006/main">
            <a:r>
              <a:t>Public Lovable site https://mix-voice-studio.lovable.app and public login/pairing/revocation verified by the implementation lead. The native loopback URL works only on the same Mac; the public companion uses the secure tunnel.</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Verification appendix, outside the two-minute main pitch. Counts and live checks were supplied by root after current testing: 19 native, 36 frontend, 37 backend tests plus 8 subtests, 9 real OpenAI plans, ElevenLabs provider checks, and a fixture with 8 detected pitches. These do not establish a live microphone or complete native GUI demonstration. The native app was built, launched, and its editor inspected. The integrated Lovable public website was updated and verified: the new studio-password UI loads with its secure API address prefilled, sign-in succeeds, pairing-code creation shows Waiting for your Mac with audio controls disabled, and End session revokes that session. Native pairing and musical audio acceptance remain pending. Jev has no configured credential and must not be claimed as demonstrated.</a:t>
            </a:r>
          </a:p>
          <a:p xmlns:a="http://schemas.openxmlformats.org/drawingml/2006/main">
            <a:r>
              <a:t/>
            </a:r>
          </a:p>
          <a:p xmlns:a="http://schemas.openxmlformats.org/drawingml/2006/main">
            <a:r>
              <a:t>Sources and context:</a:t>
            </a:r>
          </a:p>
          <a:p xmlns:a="http://schemas.openxmlformats.org/drawingml/2006/main">
            <a:r>
              <a:t>/Users/uddinsiyam/Desktop/digital-af/mixroom-app/docs/HACKATHON_IMPLEMENTATION.md</a:t>
            </a:r>
          </a:p>
          <a:p xmlns:a="http://schemas.openxmlformats.org/drawingml/2006/main">
            <a:r>
              <a:t>/Users/uddinsiyam/Desktop/digital-af/mixroom-app/docs/MANUAL_TESTING.md</a:t>
            </a:r>
          </a:p>
          <a:p xmlns:a="http://schemas.openxmlformats.org/drawingml/2006/main">
            <a:r>
              <a:t>Latest verification counts supplied by the implementation lead during this session.</a:t>
            </a:r>
          </a:p>
          <a:p xmlns:a="http://schemas.openxmlformats.org/drawingml/2006/main">
            <a:r>
              <a:t>Lovable project: https://lovable.dev/projects/9f999e25-9d24-4f94-9560-34ca0b28be84</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3ca008dbeb4e4838"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ac0036a4df0e48b9" /><Relationship Type="http://schemas.openxmlformats.org/officeDocument/2006/relationships/slideLayout" Target="/ppt/slideLayouts/slideLayout1.xml" Id="Rc305be6152ae4880"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c305be6152ae4880"/>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0a40558a35db4052" /><Relationship Type="http://schemas.openxmlformats.org/officeDocument/2006/relationships/notesSlide" Target="/ppt/notesSlides/notesSlide1.xml" Id="Rb27aed997ff14bc1"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9c19890029354d3d" /><Relationship Type="http://schemas.openxmlformats.org/officeDocument/2006/relationships/image" Target="/ppt/media/image.jpeg" Id="R3399387eeaef41c9" /><Relationship Type="http://schemas.openxmlformats.org/officeDocument/2006/relationships/notesSlide" Target="/ppt/notesSlides/notesSlide2.xml" Id="R1daffaf483594a15"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4ccfdeef29914a76" /><Relationship Type="http://schemas.openxmlformats.org/officeDocument/2006/relationships/notesSlide" Target="/ppt/notesSlides/notesSlide3.xml" Id="Rcd0f31ec0d4b42a9" /></Relationships>
</file>

<file path=ppt/slides/_rels/slide4.xml.rels>&#65279;<?xml version="1.0" encoding="utf-8"?><Relationships xmlns="http://schemas.openxmlformats.org/package/2006/relationships"><Relationship Type="http://schemas.openxmlformats.org/officeDocument/2006/relationships/slideLayout" Target="/ppt/slideLayouts/slideLayout1.xml" Id="Raa3416921423498f" /><Relationship Type="http://schemas.openxmlformats.org/officeDocument/2006/relationships/notesSlide" Target="/ppt/notesSlides/notesSlide4.xml" Id="Rd0092bc67d38467c" /></Relationships>
</file>

<file path=ppt/slides/_rels/slide5.xml.rels>&#65279;<?xml version="1.0" encoding="utf-8"?><Relationships xmlns="http://schemas.openxmlformats.org/package/2006/relationships"><Relationship Type="http://schemas.openxmlformats.org/officeDocument/2006/relationships/slideLayout" Target="/ppt/slideLayouts/slideLayout1.xml" Id="Rc1ea5fe5f7a842d7" /><Relationship Type="http://schemas.openxmlformats.org/officeDocument/2006/relationships/notesSlide" Target="/ppt/notesSlides/notesSlide5.xml" Id="Ra420bf456bb84a81" /></Relationships>
</file>

<file path=ppt/slides/_rels/slide6.xml.rels>&#65279;<?xml version="1.0" encoding="utf-8"?><Relationships xmlns="http://schemas.openxmlformats.org/package/2006/relationships"><Relationship Type="http://schemas.openxmlformats.org/officeDocument/2006/relationships/slideLayout" Target="/ppt/slideLayouts/slideLayout1.xml" Id="Rd84f27e40c064183" /><Relationship Type="http://schemas.openxmlformats.org/officeDocument/2006/relationships/notesSlide" Target="/ppt/notesSlides/notesSlide6.xml" Id="Rfbf8e511ccc64c97" /></Relationships>
</file>

<file path=ppt/slides/_rels/slide7.xml.rels>&#65279;<?xml version="1.0" encoding="utf-8"?><Relationships xmlns="http://schemas.openxmlformats.org/package/2006/relationships"><Relationship Type="http://schemas.openxmlformats.org/officeDocument/2006/relationships/slideLayout" Target="/ppt/slideLayouts/slideLayout1.xml" Id="R680831b25eab479a" /><Relationship Type="http://schemas.openxmlformats.org/officeDocument/2006/relationships/image" Target="/ppt/media/image2.jpeg" Id="Rcf1f21b043a74cc2" /><Relationship Type="http://schemas.openxmlformats.org/officeDocument/2006/relationships/notesSlide" Target="/ppt/notesSlides/notesSlide7.xml" Id="R8a08e08fe5104828" /></Relationships>
</file>

<file path=ppt/slides/_rels/slide8.xml.rels>&#65279;<?xml version="1.0" encoding="utf-8"?><Relationships xmlns="http://schemas.openxmlformats.org/package/2006/relationships"><Relationship Type="http://schemas.openxmlformats.org/officeDocument/2006/relationships/slideLayout" Target="/ppt/slideLayouts/slideLayout1.xml" Id="R43fe752ee3ad4981" /><Relationship Type="http://schemas.openxmlformats.org/officeDocument/2006/relationships/notesSlide" Target="/ppt/notesSlides/notesSlide8.xml" Id="R2a419cd930474bda" /></Relationships>
</file>

<file path=ppt/slides/slide1.xml><?xml version="1.0" encoding="utf-8"?>
<p:sld xmlns:p="http://schemas.openxmlformats.org/presentationml/2006/main">
  <p:cSld>
    <p:bg>
      <p:bgPr>
        <a:solidFill xmlns:a="http://schemas.openxmlformats.org/drawingml/2006/main">
          <a:srgbClr val="171816"/>
        </a:solidFill>
      </p:bgPr>
    </p:bg>
    <p:spTree>
      <p:nvGrpSpPr>
        <p:cNvPr id="1" name=""/>
        <p:cNvGrpSpPr/>
        <p:nvPr/>
      </p:nvGrpSpPr>
      <p:grpSpPr>
        <a:xfrm xmlns:a="http://schemas.openxmlformats.org/drawingml/2006/main"/>
      </p:grpSpPr>
      <p:sp>
        <p:nvSpPr>
          <p:cNvPr id="7" name="text-sartdt-64-674">
            <a:extLst xmlns:a="http://schemas.openxmlformats.org/drawingml/2006/main">
              <a:ext uri="{FF2B5EF4-FFF2-40B4-BE49-F238E27FC236}">
                <a16:creationId xmlns:a16="http://schemas.microsoft.com/office/drawing/2014/main" id="{258DBC30-E723-4B47-8CA1-C96AC163FCEA}"/>
              </a:ext>
            </a:extLst>
          </p:cNvPr>
          <p:cNvSpPr>
            <a:spLocks xmlns:a="http://schemas.openxmlformats.org/drawingml/2006/main" noGrp="1"/>
          </p:cNvSpPr>
          <p:nvPr/>
        </p:nvSpPr>
        <p:spPr>
          <a:xfrm xmlns:a="http://schemas.openxmlformats.org/drawingml/2006/main">
            <a:off x="609600" y="6419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B1B2A5"/>
                </a:solidFill>
                <a:latin typeface="Avenir Next"/>
                <a:ea typeface="Avenir Next"/>
                <a:cs typeface="Avenir Next"/>
              </a:defRPr>
            </a:pPr>
            <a:r>
              <a:rPr sz="1350" b="0" i="0">
                <a:solidFill>
                  <a:srgbClr val="B1B2A5"/>
                </a:solidFill>
                <a:latin typeface="Avenir Next"/>
                <a:ea typeface="Avenir Next"/>
                <a:cs typeface="Avenir Next"/>
              </a:rPr>
              <a:t>MixRoom / DIGITAL AF Seoul</a:t>
            </a:r>
          </a:p>
        </p:txBody>
      </p:sp>
      <p:sp>
        <p:nvSpPr>
          <p:cNvPr id="2" name="text-sartdt-1152-674">
            <a:extLst xmlns:a="http://schemas.openxmlformats.org/drawingml/2006/main">
              <a:ext uri="{FF2B5EF4-FFF2-40B4-BE49-F238E27FC236}">
                <a16:creationId xmlns:a16="http://schemas.microsoft.com/office/drawing/2014/main" id="{651AD999-169A-4A64-BA22-20194AA7DE7A}"/>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i="0">
                <a:solidFill>
                  <a:srgbClr val="B1B2A5"/>
                </a:solidFill>
                <a:latin typeface="Avenir Next"/>
                <a:ea typeface="Avenir Next"/>
                <a:cs typeface="Avenir Next"/>
              </a:defRPr>
            </a:pPr>
            <a:r>
              <a:rPr sz="1350" b="0" i="0">
                <a:solidFill>
                  <a:srgbClr val="B1B2A5"/>
                </a:solidFill>
                <a:latin typeface="Avenir Next"/>
                <a:ea typeface="Avenir Next"/>
                <a:cs typeface="Avenir Next"/>
              </a:rPr>
              <a:t>01</a:t>
            </a:r>
          </a:p>
        </p:txBody>
      </p:sp>
      <p:sp>
        <p:nvSpPr>
          <p:cNvPr id="3" name="text-sartdt-64-119">
            <a:extLst xmlns:a="http://schemas.openxmlformats.org/drawingml/2006/main">
              <a:ext uri="{FF2B5EF4-FFF2-40B4-BE49-F238E27FC236}">
                <a16:creationId xmlns:a16="http://schemas.microsoft.com/office/drawing/2014/main" id="{47D32361-06B2-4D5F-B0A9-149B31372A37}"/>
              </a:ext>
            </a:extLst>
          </p:cNvPr>
          <p:cNvSpPr>
            <a:spLocks xmlns:a="http://schemas.openxmlformats.org/drawingml/2006/main" noGrp="1"/>
          </p:cNvSpPr>
          <p:nvPr/>
        </p:nvSpPr>
        <p:spPr>
          <a:xfrm xmlns:a="http://schemas.openxmlformats.org/drawingml/2006/main">
            <a:off x="609600" y="1133475"/>
            <a:ext cx="10477500" cy="1571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0500" b="0" i="0">
                <a:solidFill>
                  <a:srgbClr val="F1EFE6"/>
                </a:solidFill>
                <a:latin typeface="Georgia"/>
                <a:ea typeface="Georgia"/>
                <a:cs typeface="Georgia"/>
              </a:defRPr>
            </a:pPr>
            <a:r>
              <a:rPr sz="10500" b="0" i="0">
                <a:solidFill>
                  <a:srgbClr val="F1EFE6"/>
                </a:solidFill>
                <a:latin typeface="Georgia"/>
                <a:ea typeface="Georgia"/>
                <a:cs typeface="Georgia"/>
              </a:rPr>
              <a:t>MixRoom</a:t>
            </a:r>
          </a:p>
        </p:txBody>
      </p:sp>
      <p:sp>
        <p:nvSpPr>
          <p:cNvPr id="4" name="text-sartdt-72-329">
            <a:extLst xmlns:a="http://schemas.openxmlformats.org/drawingml/2006/main">
              <a:ext uri="{FF2B5EF4-FFF2-40B4-BE49-F238E27FC236}">
                <a16:creationId xmlns:a16="http://schemas.microsoft.com/office/drawing/2014/main" id="{27E104A2-1AFA-4433-97BD-579DA9D99E1B}"/>
              </a:ext>
            </a:extLst>
          </p:cNvPr>
          <p:cNvSpPr>
            <a:spLocks xmlns:a="http://schemas.openxmlformats.org/drawingml/2006/main" noGrp="1"/>
          </p:cNvSpPr>
          <p:nvPr/>
        </p:nvSpPr>
        <p:spPr>
          <a:xfrm xmlns:a="http://schemas.openxmlformats.org/drawingml/2006/main">
            <a:off x="685800" y="3133725"/>
            <a:ext cx="9858375" cy="1428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525" b="0" i="0">
                <a:solidFill>
                  <a:srgbClr val="E7C16B"/>
                </a:solidFill>
                <a:latin typeface="Avenir Next"/>
                <a:ea typeface="Avenir Next"/>
                <a:cs typeface="Avenir Next"/>
              </a:defRPr>
            </a:pPr>
            <a:r>
              <a:rPr sz="3525" b="0" i="0">
                <a:solidFill>
                  <a:srgbClr val="E7C16B"/>
                </a:solidFill>
                <a:latin typeface="Avenir Next"/>
                <a:ea typeface="Avenir Next"/>
                <a:cs typeface="Avenir Next"/>
              </a:rPr>
              <a:t>Voice control for the musician</a:t>
            </a:r>
          </a:p>
          <a:p xmlns:a="http://schemas.openxmlformats.org/drawingml/2006/main">
            <a:pPr algn="l">
              <a:defRPr sz="3525" b="0" i="0">
                <a:solidFill>
                  <a:srgbClr val="E7C16B"/>
                </a:solidFill>
                <a:latin typeface="Avenir Next"/>
                <a:ea typeface="Avenir Next"/>
                <a:cs typeface="Avenir Next"/>
              </a:defRPr>
            </a:pPr>
            <a:r>
              <a:rPr sz="3525" b="0" i="0">
                <a:solidFill>
                  <a:srgbClr val="E7C16B"/>
                </a:solidFill>
                <a:latin typeface="Avenir Next"/>
                <a:ea typeface="Avenir Next"/>
                <a:cs typeface="Avenir Next"/>
              </a:rPr>
              <a:t>who is also the engineer</a:t>
            </a:r>
          </a:p>
        </p:txBody>
      </p:sp>
      <p:sp>
        <p:nvSpPr>
          <p:cNvPr id="5" name="text-sartdt-74-552">
            <a:extLst xmlns:a="http://schemas.openxmlformats.org/drawingml/2006/main">
              <a:ext uri="{FF2B5EF4-FFF2-40B4-BE49-F238E27FC236}">
                <a16:creationId xmlns:a16="http://schemas.microsoft.com/office/drawing/2014/main" id="{5D47990F-E042-4B66-A70E-C271DDB4974D}"/>
              </a:ext>
            </a:extLst>
          </p:cNvPr>
          <p:cNvSpPr>
            <a:spLocks xmlns:a="http://schemas.openxmlformats.org/drawingml/2006/main" noGrp="1"/>
          </p:cNvSpPr>
          <p:nvPr/>
        </p:nvSpPr>
        <p:spPr>
          <a:xfrm xmlns:a="http://schemas.openxmlformats.org/drawingml/2006/main">
            <a:off x="704850" y="5257800"/>
            <a:ext cx="98107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B1B2A5"/>
                </a:solidFill>
                <a:latin typeface="Avenir Next"/>
                <a:ea typeface="Avenir Next"/>
                <a:cs typeface="Avenir Next"/>
              </a:defRPr>
            </a:pPr>
            <a:r>
              <a:rPr sz="1875" b="0" i="0">
                <a:solidFill>
                  <a:srgbClr val="B1B2A5"/>
                </a:solidFill>
                <a:latin typeface="Avenir Next"/>
                <a:ea typeface="Avenir Next"/>
                <a:cs typeface="Avenir Next"/>
              </a:rPr>
              <a:t>A studio companion for recording, mixing, and musical ideas</a:t>
            </a:r>
          </a:p>
        </p:txBody>
      </p:sp>
      <p:sp>
        <p:nvSpPr>
          <p:cNvPr id="6" name="text-sartdt-74-616">
            <a:extLst xmlns:a="http://schemas.openxmlformats.org/drawingml/2006/main">
              <a:ext uri="{FF2B5EF4-FFF2-40B4-BE49-F238E27FC236}">
                <a16:creationId xmlns:a16="http://schemas.microsoft.com/office/drawing/2014/main" id="{9865D9D2-EFB7-4BFE-B61A-CAEFDC3C95FA}"/>
              </a:ext>
            </a:extLst>
          </p:cNvPr>
          <p:cNvSpPr>
            <a:spLocks xmlns:a="http://schemas.openxmlformats.org/drawingml/2006/main" noGrp="1"/>
          </p:cNvSpPr>
          <p:nvPr/>
        </p:nvSpPr>
        <p:spPr>
          <a:xfrm xmlns:a="http://schemas.openxmlformats.org/drawingml/2006/main">
            <a:off x="704850" y="5867400"/>
            <a:ext cx="10477500" cy="3429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E7C16B"/>
                </a:solidFill>
                <a:latin typeface="Avenir Next"/>
                <a:ea typeface="Avenir Next"/>
                <a:cs typeface="Avenir Next"/>
              </a:defRPr>
            </a:pPr>
            <a:r>
              <a:rPr sz="1800" b="0" i="0">
                <a:solidFill>
                  <a:srgbClr val="E7C16B"/>
                </a:solidFill>
                <a:latin typeface="Avenir Next"/>
                <a:ea typeface="Avenir Next"/>
                <a:cs typeface="Avenir Next"/>
              </a:rPr>
              <a:t>SABERA BANU (Leader)  ·  UDDIN SIYAM</a:t>
            </a:r>
          </a:p>
        </p:txBody>
      </p:sp>
    </p:spTree>
    <p:extLst>
      <p:ext uri="{BB962C8B-B14F-4D97-AF65-F5344CB8AC3E}">
        <p14:creationId xmlns:p14="http://schemas.microsoft.com/office/powerpoint/2010/main" val="205911568"/>
      </p:ext>
    </p:extLst>
  </p:cSld>
</p:sld>
</file>

<file path=ppt/slides/slide2.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8" name="text-7nfovm-64-674">
            <a:extLst xmlns:a="http://schemas.openxmlformats.org/drawingml/2006/main">
              <a:ext uri="{FF2B5EF4-FFF2-40B4-BE49-F238E27FC236}">
                <a16:creationId xmlns:a16="http://schemas.microsoft.com/office/drawing/2014/main" id="{CC448C23-D74A-4313-8DE3-D220BDB9F4A3}"/>
              </a:ext>
            </a:extLst>
          </p:cNvPr>
          <p:cNvSpPr>
            <a:spLocks xmlns:a="http://schemas.openxmlformats.org/drawingml/2006/main" noGrp="1"/>
          </p:cNvSpPr>
          <p:nvPr/>
        </p:nvSpPr>
        <p:spPr>
          <a:xfrm xmlns:a="http://schemas.openxmlformats.org/drawingml/2006/main">
            <a:off x="609600" y="6419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626357"/>
                </a:solidFill>
                <a:latin typeface="Avenir Next"/>
                <a:ea typeface="Avenir Next"/>
                <a:cs typeface="Avenir Next"/>
              </a:defRPr>
            </a:pPr>
            <a:r>
              <a:rPr sz="1350" b="0" i="0">
                <a:solidFill>
                  <a:srgbClr val="626357"/>
                </a:solidFill>
                <a:latin typeface="Avenir Next"/>
                <a:ea typeface="Avenir Next"/>
                <a:cs typeface="Avenir Next"/>
              </a:rPr>
              <a:t>MixRoom / DIGITAL AF Seoul</a:t>
            </a:r>
          </a:p>
        </p:txBody>
      </p:sp>
      <p:sp>
        <p:nvSpPr>
          <p:cNvPr id="2" name="text-7nfovm-1152-674">
            <a:extLst xmlns:a="http://schemas.openxmlformats.org/drawingml/2006/main">
              <a:ext uri="{FF2B5EF4-FFF2-40B4-BE49-F238E27FC236}">
                <a16:creationId xmlns:a16="http://schemas.microsoft.com/office/drawing/2014/main" id="{F512E02F-0254-40C2-8649-8932A1B632D5}"/>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i="0">
                <a:solidFill>
                  <a:srgbClr val="626357"/>
                </a:solidFill>
                <a:latin typeface="Avenir Next"/>
                <a:ea typeface="Avenir Next"/>
                <a:cs typeface="Avenir Next"/>
              </a:defRPr>
            </a:pPr>
            <a:r>
              <a:rPr sz="1350" b="0" i="0">
                <a:solidFill>
                  <a:srgbClr val="626357"/>
                </a:solidFill>
                <a:latin typeface="Avenir Next"/>
                <a:ea typeface="Avenir Next"/>
                <a:cs typeface="Avenir Next"/>
              </a:rPr>
              <a:t>02</a:t>
            </a:r>
          </a:p>
        </p:txBody>
      </p:sp>
      <p:sp>
        <p:nvSpPr>
          <p:cNvPr id="3" name="text-7nfovm-64-66">
            <a:extLst xmlns:a="http://schemas.openxmlformats.org/drawingml/2006/main">
              <a:ext uri="{FF2B5EF4-FFF2-40B4-BE49-F238E27FC236}">
                <a16:creationId xmlns:a16="http://schemas.microsoft.com/office/drawing/2014/main" id="{92492EDC-20F9-4705-86BD-322F6B80515E}"/>
              </a:ext>
            </a:extLst>
          </p:cNvPr>
          <p:cNvSpPr>
            <a:spLocks xmlns:a="http://schemas.openxmlformats.org/drawingml/2006/main" noGrp="1"/>
          </p:cNvSpPr>
          <p:nvPr/>
        </p:nvSpPr>
        <p:spPr>
          <a:xfrm xmlns:a="http://schemas.openxmlformats.org/drawingml/2006/main">
            <a:off x="609600" y="628650"/>
            <a:ext cx="5429250" cy="781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200" b="0" i="0">
                <a:solidFill>
                  <a:srgbClr val="171816"/>
                </a:solidFill>
                <a:latin typeface="Georgia"/>
                <a:ea typeface="Georgia"/>
                <a:cs typeface="Georgia"/>
              </a:defRPr>
            </a:pPr>
            <a:r>
              <a:rPr sz="4200" b="0" i="0">
                <a:solidFill>
                  <a:srgbClr val="171816"/>
                </a:solidFill>
                <a:latin typeface="Georgia"/>
                <a:ea typeface="Georgia"/>
                <a:cs typeface="Georgia"/>
              </a:rPr>
              <a:t>Solo recording</a:t>
            </a:r>
          </a:p>
        </p:txBody>
      </p:sp>
      <p:sp>
        <p:nvSpPr>
          <p:cNvPr id="4" name="text-7nfovm-65-195">
            <a:extLst xmlns:a="http://schemas.openxmlformats.org/drawingml/2006/main">
              <a:ext uri="{FF2B5EF4-FFF2-40B4-BE49-F238E27FC236}">
                <a16:creationId xmlns:a16="http://schemas.microsoft.com/office/drawing/2014/main" id="{19A936D0-9D15-4ECB-901E-20DE5360C1BE}"/>
              </a:ext>
            </a:extLst>
          </p:cNvPr>
          <p:cNvSpPr>
            <a:spLocks xmlns:a="http://schemas.openxmlformats.org/drawingml/2006/main" noGrp="1"/>
          </p:cNvSpPr>
          <p:nvPr/>
        </p:nvSpPr>
        <p:spPr>
          <a:xfrm xmlns:a="http://schemas.openxmlformats.org/drawingml/2006/main">
            <a:off x="619125" y="1857375"/>
            <a:ext cx="5381625"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3750" b="0" i="0">
                <a:solidFill>
                  <a:srgbClr val="171816"/>
                </a:solidFill>
                <a:latin typeface="Avenir Next"/>
                <a:ea typeface="Avenir Next"/>
                <a:cs typeface="Avenir Next"/>
              </a:defRPr>
            </a:pPr>
            <a:r>
              <a:rPr sz="3750" b="0" i="0">
                <a:solidFill>
                  <a:srgbClr val="171816"/>
                </a:solidFill>
                <a:latin typeface="Avenir Next"/>
                <a:ea typeface="Avenir Next"/>
                <a:cs typeface="Avenir Next"/>
              </a:rPr>
              <a:t>Both hands are</a:t>
            </a:r>
          </a:p>
          <a:p xmlns:a="http://schemas.openxmlformats.org/drawingml/2006/main">
            <a:pPr algn="l">
              <a:defRPr sz="3750" b="0" i="0">
                <a:solidFill>
                  <a:srgbClr val="171816"/>
                </a:solidFill>
                <a:latin typeface="Avenir Next"/>
                <a:ea typeface="Avenir Next"/>
                <a:cs typeface="Avenir Next"/>
              </a:defRPr>
            </a:pPr>
            <a:r>
              <a:rPr sz="3750" b="0" i="0">
                <a:solidFill>
                  <a:srgbClr val="171816"/>
                </a:solidFill>
                <a:latin typeface="Avenir Next"/>
                <a:ea typeface="Avenir Next"/>
                <a:cs typeface="Avenir Next"/>
              </a:rPr>
              <a:t>on the instrument</a:t>
            </a:r>
          </a:p>
        </p:txBody>
      </p:sp>
      <p:sp>
        <p:nvSpPr>
          <p:cNvPr id="5" name="text-7nfovm-68-405">
            <a:extLst xmlns:a="http://schemas.openxmlformats.org/drawingml/2006/main">
              <a:ext uri="{FF2B5EF4-FFF2-40B4-BE49-F238E27FC236}">
                <a16:creationId xmlns:a16="http://schemas.microsoft.com/office/drawing/2014/main" id="{89D1F748-7829-4B00-B886-45565FEE8422}"/>
              </a:ext>
            </a:extLst>
          </p:cNvPr>
          <p:cNvSpPr>
            <a:spLocks xmlns:a="http://schemas.openxmlformats.org/drawingml/2006/main" noGrp="1"/>
          </p:cNvSpPr>
          <p:nvPr/>
        </p:nvSpPr>
        <p:spPr>
          <a:xfrm xmlns:a="http://schemas.openxmlformats.org/drawingml/2006/main">
            <a:off x="647700" y="3857625"/>
            <a:ext cx="4686300" cy="1238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i="0">
                <a:solidFill>
                  <a:srgbClr val="626357"/>
                </a:solidFill>
                <a:latin typeface="Avenir Next"/>
                <a:ea typeface="Avenir Next"/>
                <a:cs typeface="Avenir Next"/>
              </a:defRPr>
            </a:pPr>
            <a:r>
              <a:rPr sz="2250" b="0" i="0">
                <a:solidFill>
                  <a:srgbClr val="626357"/>
                </a:solidFill>
                <a:latin typeface="Avenir Next"/>
                <a:ea typeface="Avenir Next"/>
                <a:cs typeface="Avenir Next"/>
              </a:rPr>
              <a:t>Starting a take or changing the mix still asks you to reach for the computer.</a:t>
            </a:r>
          </a:p>
        </p:txBody>
      </p:sp>
      <p:sp>
        <p:nvSpPr>
          <p:cNvPr id="6" name="text-7nfovm-68-568">
            <a:extLst xmlns:a="http://schemas.openxmlformats.org/drawingml/2006/main">
              <a:ext uri="{FF2B5EF4-FFF2-40B4-BE49-F238E27FC236}">
                <a16:creationId xmlns:a16="http://schemas.microsoft.com/office/drawing/2014/main" id="{ED006C42-EAA6-4176-8A25-BBB2C6286920}"/>
              </a:ext>
            </a:extLst>
          </p:cNvPr>
          <p:cNvSpPr>
            <a:spLocks xmlns:a="http://schemas.openxmlformats.org/drawingml/2006/main" noGrp="1"/>
          </p:cNvSpPr>
          <p:nvPr/>
        </p:nvSpPr>
        <p:spPr>
          <a:xfrm xmlns:a="http://schemas.openxmlformats.org/drawingml/2006/main">
            <a:off x="647700" y="5410200"/>
            <a:ext cx="4714875" cy="6858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1" i="0">
                <a:solidFill>
                  <a:srgbClr val="171816"/>
                </a:solidFill>
                <a:latin typeface="Avenir Next"/>
                <a:ea typeface="Avenir Next"/>
                <a:cs typeface="Avenir Next"/>
              </a:defRPr>
            </a:pPr>
            <a:r>
              <a:rPr sz="1800" b="1" i="0">
                <a:solidFill>
                  <a:srgbClr val="171816"/>
                </a:solidFill>
                <a:latin typeface="Avenir Next"/>
                <a:ea typeface="Avenir Next"/>
                <a:cs typeface="Avenir Next"/>
              </a:rPr>
              <a:t>The job: capture the idea</a:t>
            </a:r>
          </a:p>
          <a:p xmlns:a="http://schemas.openxmlformats.org/drawingml/2006/main">
            <a:pPr algn="l">
              <a:defRPr sz="1800" b="1" i="0">
                <a:solidFill>
                  <a:srgbClr val="171816"/>
                </a:solidFill>
                <a:latin typeface="Avenir Next"/>
                <a:ea typeface="Avenir Next"/>
                <a:cs typeface="Avenir Next"/>
              </a:defRPr>
            </a:pPr>
            <a:r>
              <a:rPr sz="1800" b="1" i="0">
                <a:solidFill>
                  <a:srgbClr val="171816"/>
                </a:solidFill>
                <a:latin typeface="Avenir Next"/>
                <a:ea typeface="Avenir Next"/>
                <a:cs typeface="Avenir Next"/>
              </a:rPr>
              <a:t>without putting the instrument down.</a:t>
            </a:r>
          </a:p>
        </p:txBody>
      </p:sp>
      <p:pic>
        <p:nvPicPr>
          <p:cNvPr id="14" name=""/>
          <p:cNvPicPr>
            <a:picLocks xmlns:a="http://schemas.openxmlformats.org/drawingml/2006/main" noChangeAspect="1"/>
          </p:cNvPicPr>
          <p:nvPr/>
        </p:nvPicPr>
        <p:blipFill>
          <a:blip xmlns:r="http://schemas.openxmlformats.org/officeDocument/2006/relationships" xmlns:a="http://schemas.openxmlformats.org/drawingml/2006/main" r:embed="R3399387eeaef41c9"/>
          <a:srcRect xmlns:a="http://schemas.openxmlformats.org/drawingml/2006/main" l="17249" t="0" r="17249" b="0"/>
          <a:stretch xmlns:a="http://schemas.openxmlformats.org/drawingml/2006/main">
            <a:fillRect l="0" t="0" r="0" b="0"/>
          </a:stretch>
        </p:blipFill>
        <p:spPr>
          <a:xfrm xmlns:a="http://schemas.openxmlformats.org/drawingml/2006/main">
            <a:off x="6229350" y="609600"/>
            <a:ext cx="5353050" cy="5448300"/>
          </a:xfrm>
          <a:prstGeom xmlns:a="http://schemas.openxmlformats.org/drawingml/2006/main" prst="rect">
            <a:avLst/>
          </a:prstGeom>
        </p:spPr>
      </p:pic>
    </p:spTree>
    <p:extLst>
      <p:ext uri="{BB962C8B-B14F-4D97-AF65-F5344CB8AC3E}">
        <p14:creationId xmlns:p14="http://schemas.microsoft.com/office/powerpoint/2010/main" val="1440020136"/>
      </p:ext>
    </p:extLst>
  </p:cSld>
</p:sld>
</file>

<file path=ppt/slides/slide3.xml><?xml version="1.0" encoding="utf-8"?>
<p:sld xmlns:p="http://schemas.openxmlformats.org/presentationml/2006/main">
  <p:cSld>
    <p:bg>
      <p:bgPr>
        <a:solidFill xmlns:a="http://schemas.openxmlformats.org/drawingml/2006/main">
          <a:srgbClr val="171816"/>
        </a:solidFill>
      </p:bgPr>
    </p:bg>
    <p:spTree>
      <p:nvGrpSpPr>
        <p:cNvPr id="1" name=""/>
        <p:cNvGrpSpPr/>
        <p:nvPr/>
      </p:nvGrpSpPr>
      <p:grpSpPr>
        <a:xfrm xmlns:a="http://schemas.openxmlformats.org/drawingml/2006/main"/>
      </p:grpSpPr>
      <p:sp>
        <p:nvSpPr>
          <p:cNvPr id="5" name="text-vhguh6-64-674">
            <a:extLst xmlns:a="http://schemas.openxmlformats.org/drawingml/2006/main">
              <a:ext uri="{FF2B5EF4-FFF2-40B4-BE49-F238E27FC236}">
                <a16:creationId xmlns:a16="http://schemas.microsoft.com/office/drawing/2014/main" id="{A72CCAE5-C8D0-4E0B-9A93-406ECE28AC3B}"/>
              </a:ext>
            </a:extLst>
          </p:cNvPr>
          <p:cNvSpPr>
            <a:spLocks xmlns:a="http://schemas.openxmlformats.org/drawingml/2006/main" noGrp="1"/>
          </p:cNvSpPr>
          <p:nvPr/>
        </p:nvSpPr>
        <p:spPr>
          <a:xfrm xmlns:a="http://schemas.openxmlformats.org/drawingml/2006/main">
            <a:off x="609600" y="6419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B1B2A5"/>
                </a:solidFill>
                <a:latin typeface="Avenir Next"/>
                <a:ea typeface="Avenir Next"/>
                <a:cs typeface="Avenir Next"/>
              </a:defRPr>
            </a:pPr>
            <a:r>
              <a:rPr sz="1350" b="0" i="0">
                <a:solidFill>
                  <a:srgbClr val="B1B2A5"/>
                </a:solidFill>
                <a:latin typeface="Avenir Next"/>
                <a:ea typeface="Avenir Next"/>
                <a:cs typeface="Avenir Next"/>
              </a:rPr>
              <a:t>MixRoom / DIGITAL AF Seoul</a:t>
            </a:r>
          </a:p>
        </p:txBody>
      </p:sp>
      <p:sp>
        <p:nvSpPr>
          <p:cNvPr id="2" name="text-vhguh6-1152-674">
            <a:extLst xmlns:a="http://schemas.openxmlformats.org/drawingml/2006/main">
              <a:ext uri="{FF2B5EF4-FFF2-40B4-BE49-F238E27FC236}">
                <a16:creationId xmlns:a16="http://schemas.microsoft.com/office/drawing/2014/main" id="{B5150004-69CD-4889-B5C2-3E64C395218A}"/>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i="0">
                <a:solidFill>
                  <a:srgbClr val="B1B2A5"/>
                </a:solidFill>
                <a:latin typeface="Avenir Next"/>
                <a:ea typeface="Avenir Next"/>
                <a:cs typeface="Avenir Next"/>
              </a:defRPr>
            </a:pPr>
            <a:r>
              <a:rPr sz="1350" b="0" i="0">
                <a:solidFill>
                  <a:srgbClr val="B1B2A5"/>
                </a:solidFill>
                <a:latin typeface="Avenir Next"/>
                <a:ea typeface="Avenir Next"/>
                <a:cs typeface="Avenir Next"/>
              </a:rPr>
              <a:t>03</a:t>
            </a:r>
          </a:p>
        </p:txBody>
      </p:sp>
      <p:sp>
        <p:nvSpPr>
          <p:cNvPr id="3" name="text-vhguh6-64-58">
            <a:extLst xmlns:a="http://schemas.openxmlformats.org/drawingml/2006/main">
              <a:ext uri="{FF2B5EF4-FFF2-40B4-BE49-F238E27FC236}">
                <a16:creationId xmlns:a16="http://schemas.microsoft.com/office/drawing/2014/main" id="{C6028FF2-B8C1-49C7-9860-BFA44CAB166E}"/>
              </a:ext>
            </a:extLst>
          </p:cNvPr>
          <p:cNvSpPr>
            <a:spLocks xmlns:a="http://schemas.openxmlformats.org/drawingml/2006/main" noGrp="1"/>
          </p:cNvSpPr>
          <p:nvPr/>
        </p:nvSpPr>
        <p:spPr>
          <a:xfrm xmlns:a="http://schemas.openxmlformats.org/drawingml/2006/main">
            <a:off x="609600" y="5524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i="0">
                <a:solidFill>
                  <a:srgbClr val="F1EFE6"/>
                </a:solidFill>
                <a:latin typeface="Georgia"/>
                <a:ea typeface="Georgia"/>
                <a:cs typeface="Georgia"/>
              </a:defRPr>
            </a:pPr>
            <a:r>
              <a:rPr sz="4050" b="0" i="0">
                <a:solidFill>
                  <a:srgbClr val="F1EFE6"/>
                </a:solidFill>
                <a:latin typeface="Georgia"/>
                <a:ea typeface="Georgia"/>
                <a:cs typeface="Georgia"/>
              </a:rPr>
              <a:t>Five actions in one voice session</a:t>
            </a:r>
          </a:p>
        </p:txBody>
      </p:sp>
      <p:graphicFrame>
        <p:nvGraphicFramePr>
          <p:cNvPr id="8" name=""/>
          <p:cNvGraphicFramePr/>
          <p:nvPr/>
        </p:nvGraphicFramePr>
        <p:xfrm>
          <a:off xmlns:a="http://schemas.openxmlformats.org/drawingml/2006/main" x="609600" y="1790700"/>
          <a:ext xmlns:a="http://schemas.openxmlformats.org/drawingml/2006/main" cx="10972800" cy="4048125"/>
        </p:xfrm>
        <a:graphic xmlns:a="http://schemas.openxmlformats.org/drawingml/2006/main">
          <a:graphicData uri="http://schemas.openxmlformats.org/drawingml/2006/table">
            <a:tbl>
              <a:tblPr firstRow="0" bandRow="0"/>
              <a:tblGrid>
                <a:gridCol w="2476500"/>
                <a:gridCol w="4591050"/>
                <a:gridCol w="3905250"/>
              </a:tblGrid>
              <a:tr h="447675">
                <a:tc>
                  <a:txBody>
                    <a:bodyPr>
                      <a:noAutofit/>
                    </a:bodyPr>
                    <a:lstStyle/>
                    <a:p>
                      <a:r>
                        <a:rPr sz="1425" b="1">
                          <a:solidFill>
                            <a:srgbClr val="E7C16B"/>
                          </a:solidFill>
                          <a:latin typeface="Avenir Next"/>
                          <a:ea typeface="Avenir Next"/>
                          <a:cs typeface="Avenir Next"/>
                        </a:rPr>
                        <a:t>FEATURE</a:t>
                      </a:r>
                    </a:p>
                  </a:txBody>
                  <a:tcPr marL="91440" marR="91440" marT="45720" marB="45720" anchor="ctr">
                    <a:solidFill>
                      <a:srgbClr val="171816"/>
                    </a:solidFill>
                  </a:tcPr>
                </a:tc>
                <a:tc>
                  <a:txBody>
                    <a:bodyPr>
                      <a:noAutofit/>
                    </a:bodyPr>
                    <a:lstStyle/>
                    <a:p>
                      <a:r>
                        <a:rPr sz="1425" b="1">
                          <a:solidFill>
                            <a:srgbClr val="E7C16B"/>
                          </a:solidFill>
                          <a:latin typeface="Avenir Next"/>
                          <a:ea typeface="Avenir Next"/>
                          <a:cs typeface="Avenir Next"/>
                        </a:rPr>
                        <a:t>SAY</a:t>
                      </a:r>
                    </a:p>
                  </a:txBody>
                  <a:tcPr marL="91440" marR="91440" marT="45720" marB="45720" anchor="ctr">
                    <a:solidFill>
                      <a:srgbClr val="171816"/>
                    </a:solidFill>
                  </a:tcPr>
                </a:tc>
                <a:tc>
                  <a:txBody>
                    <a:bodyPr>
                      <a:noAutofit/>
                    </a:bodyPr>
                    <a:lstStyle/>
                    <a:p>
                      <a:r>
                        <a:rPr sz="1425" b="1">
                          <a:solidFill>
                            <a:srgbClr val="E7C16B"/>
                          </a:solidFill>
                          <a:latin typeface="Avenir Next"/>
                          <a:ea typeface="Avenir Next"/>
                          <a:cs typeface="Avenir Next"/>
                        </a:rPr>
                        <a:t>CHECK ON THE MAC</a:t>
                      </a:r>
                    </a:p>
                  </a:txBody>
                  <a:tcPr marL="91440" marR="91440" marT="45720" marB="45720" anchor="ctr">
                    <a:solidFill>
                      <a:srgbClr val="171816"/>
                    </a:solidFill>
                  </a:tcPr>
                </a:tc>
              </a:tr>
              <a:tr h="714375">
                <a:tc>
                  <a:txBody>
                    <a:bodyPr>
                      <a:noAutofit/>
                    </a:bodyPr>
                    <a:lstStyle/>
                    <a:p>
                      <a:r>
                        <a:rPr sz="1875" b="1">
                          <a:solidFill>
                            <a:srgbClr val="F1EFE6"/>
                          </a:solidFill>
                          <a:latin typeface="Avenir Next"/>
                          <a:ea typeface="Avenir Next"/>
                          <a:cs typeface="Avenir Next"/>
                        </a:rPr>
                        <a:t>Mix</a:t>
                      </a:r>
                    </a:p>
                  </a:txBody>
                  <a:tcPr marL="91440" marR="91440" marT="45720" marB="45720" anchor="ctr">
                    <a:solidFill>
                      <a:srgbClr val="171816"/>
                    </a:solidFill>
                  </a:tcPr>
                </a:tc>
                <a:tc>
                  <a:txBody>
                    <a:bodyPr>
                      <a:noAutofit/>
                    </a:bodyPr>
                    <a:lstStyle/>
                    <a:p>
                      <a:r>
                        <a:rPr sz="1875" b="0">
                          <a:solidFill>
                            <a:srgbClr val="F1EFE6"/>
                          </a:solidFill>
                          <a:latin typeface="Avenir Next"/>
                          <a:ea typeface="Avenir Next"/>
                          <a:cs typeface="Avenir Next"/>
                        </a:rPr>
                        <a:t>“Lower Backing by two decibels.”</a:t>
                      </a:r>
                    </a:p>
                  </a:txBody>
                  <a:tcPr marL="91440" marR="91440" marT="45720" marB="45720" anchor="ctr">
                    <a:solidFill>
                      <a:srgbClr val="171816"/>
                    </a:solidFill>
                  </a:tcPr>
                </a:tc>
                <a:tc>
                  <a:txBody>
                    <a:bodyPr>
                      <a:noAutofit/>
                    </a:bodyPr>
                    <a:lstStyle/>
                    <a:p>
                      <a:r>
                        <a:rPr sz="1875" b="0">
                          <a:solidFill>
                            <a:srgbClr val="F1EFE6"/>
                          </a:solidFill>
                          <a:latin typeface="Avenir Next"/>
                          <a:ea typeface="Avenir Next"/>
                          <a:cs typeface="Avenir Next"/>
                        </a:rPr>
                        <a:t>The track gain changes.</a:t>
                      </a:r>
                    </a:p>
                  </a:txBody>
                  <a:tcPr marL="91440" marR="91440" marT="45720" marB="45720" anchor="ctr">
                    <a:solidFill>
                      <a:srgbClr val="171816"/>
                    </a:solidFill>
                  </a:tcPr>
                </a:tc>
              </a:tr>
              <a:tr h="714375">
                <a:tc>
                  <a:txBody>
                    <a:bodyPr>
                      <a:noAutofit/>
                    </a:bodyPr>
                    <a:lstStyle/>
                    <a:p>
                      <a:r>
                        <a:rPr sz="1875" b="1">
                          <a:solidFill>
                            <a:srgbClr val="F1EFE6"/>
                          </a:solidFill>
                          <a:latin typeface="Avenir Next"/>
                          <a:ea typeface="Avenir Next"/>
                          <a:cs typeface="Avenir Next"/>
                        </a:rPr>
                        <a:t>Compare + undo</a:t>
                      </a:r>
                    </a:p>
                  </a:txBody>
                  <a:tcPr marL="91440" marR="91440" marT="45720" marB="45720" anchor="ctr">
                    <a:solidFill>
                      <a:srgbClr val="171816"/>
                    </a:solidFill>
                  </a:tcPr>
                </a:tc>
                <a:tc>
                  <a:txBody>
                    <a:bodyPr>
                      <a:noAutofit/>
                    </a:bodyPr>
                    <a:lstStyle/>
                    <a:p>
                      <a:r>
                        <a:rPr sz="1875" b="0">
                          <a:solidFill>
                            <a:srgbClr val="F1EFE6"/>
                          </a:solidFill>
                          <a:latin typeface="Avenir Next"/>
                          <a:ea typeface="Avenir Next"/>
                          <a:cs typeface="Avenir Next"/>
                        </a:rPr>
                        <a:t>“Before. After. Keep after.”</a:t>
                      </a:r>
                    </a:p>
                  </a:txBody>
                  <a:tcPr marL="91440" marR="91440" marT="45720" marB="45720" anchor="ctr">
                    <a:solidFill>
                      <a:srgbClr val="171816"/>
                    </a:solidFill>
                  </a:tcPr>
                </a:tc>
                <a:tc>
                  <a:txBody>
                    <a:bodyPr>
                      <a:noAutofit/>
                    </a:bodyPr>
                    <a:lstStyle/>
                    <a:p>
                      <a:r>
                        <a:rPr sz="1875" b="0">
                          <a:solidFill>
                            <a:srgbClr val="F1EFE6"/>
                          </a:solidFill>
                          <a:latin typeface="Avenir Next"/>
                          <a:ea typeface="Avenir Next"/>
                          <a:cs typeface="Avenir Next"/>
                        </a:rPr>
                        <a:t>Hear the latest mix change.</a:t>
                      </a:r>
                    </a:p>
                  </a:txBody>
                  <a:tcPr marL="91440" marR="91440" marT="45720" marB="45720" anchor="ctr">
                    <a:solidFill>
                      <a:srgbClr val="171816"/>
                    </a:solidFill>
                  </a:tcPr>
                </a:tc>
              </a:tr>
              <a:tr h="714375">
                <a:tc>
                  <a:txBody>
                    <a:bodyPr>
                      <a:noAutofit/>
                    </a:bodyPr>
                    <a:lstStyle/>
                    <a:p>
                      <a:r>
                        <a:rPr sz="1875" b="1">
                          <a:solidFill>
                            <a:srgbClr val="F1EFE6"/>
                          </a:solidFill>
                          <a:latin typeface="Avenir Next"/>
                          <a:ea typeface="Avenir Next"/>
                          <a:cs typeface="Avenir Next"/>
                        </a:rPr>
                        <a:t>Record</a:t>
                      </a:r>
                    </a:p>
                  </a:txBody>
                  <a:tcPr marL="91440" marR="91440" marT="45720" marB="45720" anchor="ctr">
                    <a:solidFill>
                      <a:srgbClr val="171816"/>
                    </a:solidFill>
                  </a:tcPr>
                </a:tc>
                <a:tc>
                  <a:txBody>
                    <a:bodyPr>
                      <a:noAutofit/>
                    </a:bodyPr>
                    <a:lstStyle/>
                    <a:p>
                      <a:r>
                        <a:rPr sz="1875" b="0">
                          <a:solidFill>
                            <a:srgbClr val="F1EFE6"/>
                          </a:solidFill>
                          <a:latin typeface="Avenir Next"/>
                          <a:ea typeface="Avenir Next"/>
                          <a:cs typeface="Avenir Next"/>
                        </a:rPr>
                        <a:t>“Record ten seconds.”</a:t>
                      </a:r>
                    </a:p>
                  </a:txBody>
                  <a:tcPr marL="91440" marR="91440" marT="45720" marB="45720" anchor="ctr">
                    <a:solidFill>
                      <a:srgbClr val="171816"/>
                    </a:solidFill>
                  </a:tcPr>
                </a:tc>
                <a:tc>
                  <a:txBody>
                    <a:bodyPr>
                      <a:noAutofit/>
                    </a:bodyPr>
                    <a:lstStyle/>
                    <a:p>
                      <a:r>
                        <a:rPr sz="1875" b="0">
                          <a:solidFill>
                            <a:srgbClr val="F1EFE6"/>
                          </a:solidFill>
                          <a:latin typeface="Avenir Next"/>
                          <a:ea typeface="Avenir Next"/>
                          <a:cs typeface="Avenir Next"/>
                        </a:rPr>
                        <a:t>A saved audio take.</a:t>
                      </a:r>
                    </a:p>
                  </a:txBody>
                  <a:tcPr marL="91440" marR="91440" marT="45720" marB="45720" anchor="ctr">
                    <a:solidFill>
                      <a:srgbClr val="171816"/>
                    </a:solidFill>
                  </a:tcPr>
                </a:tc>
              </a:tr>
              <a:tr h="714375">
                <a:tc>
                  <a:txBody>
                    <a:bodyPr>
                      <a:noAutofit/>
                    </a:bodyPr>
                    <a:lstStyle/>
                    <a:p>
                      <a:r>
                        <a:rPr sz="1875" b="1">
                          <a:solidFill>
                            <a:srgbClr val="F1EFE6"/>
                          </a:solidFill>
                          <a:latin typeface="Avenir Next"/>
                          <a:ea typeface="Avenir Next"/>
                          <a:cs typeface="Avenir Next"/>
                        </a:rPr>
                        <a:t>Hum to instrument</a:t>
                      </a:r>
                    </a:p>
                  </a:txBody>
                  <a:tcPr marL="91440" marR="91440" marT="45720" marB="45720" anchor="ctr">
                    <a:solidFill>
                      <a:srgbClr val="171816"/>
                    </a:solidFill>
                  </a:tcPr>
                </a:tc>
                <a:tc>
                  <a:txBody>
                    <a:bodyPr>
                      <a:noAutofit/>
                    </a:bodyPr>
                    <a:lstStyle/>
                    <a:p>
                      <a:r>
                        <a:rPr sz="1875" b="0">
                          <a:solidFill>
                            <a:srgbClr val="F1EFE6"/>
                          </a:solidFill>
                          <a:latin typeface="Avenir Next"/>
                          <a:ea typeface="Avenir Next"/>
                          <a:cs typeface="Avenir Next"/>
                        </a:rPr>
                        <a:t>“Turn my humming into Warm Keys.”</a:t>
                      </a:r>
                    </a:p>
                  </a:txBody>
                  <a:tcPr marL="91440" marR="91440" marT="45720" marB="45720" anchor="ctr">
                    <a:solidFill>
                      <a:srgbClr val="171816"/>
                    </a:solidFill>
                  </a:tcPr>
                </a:tc>
                <a:tc>
                  <a:txBody>
                    <a:bodyPr>
                      <a:noAutofit/>
                    </a:bodyPr>
                    <a:lstStyle/>
                    <a:p>
                      <a:r>
                        <a:rPr sz="1875" b="0">
                          <a:solidFill>
                            <a:srgbClr val="F1EFE6"/>
                          </a:solidFill>
                          <a:latin typeface="Avenir Next"/>
                          <a:ea typeface="Avenir Next"/>
                          <a:cs typeface="Avenir Next"/>
                        </a:rPr>
                        <a:t>Original audio plus editable MIDI.</a:t>
                      </a:r>
                    </a:p>
                  </a:txBody>
                  <a:tcPr marL="91440" marR="91440" marT="45720" marB="45720" anchor="ctr">
                    <a:solidFill>
                      <a:srgbClr val="171816"/>
                    </a:solidFill>
                  </a:tcPr>
                </a:tc>
              </a:tr>
              <a:tr h="714375">
                <a:tc>
                  <a:txBody>
                    <a:bodyPr>
                      <a:noAutofit/>
                    </a:bodyPr>
                    <a:lstStyle/>
                    <a:p>
                      <a:r>
                        <a:rPr sz="1875" b="1">
                          <a:solidFill>
                            <a:srgbClr val="F1EFE6"/>
                          </a:solidFill>
                          <a:latin typeface="Avenir Next"/>
                          <a:ea typeface="Avenir Next"/>
                          <a:cs typeface="Avenir Next"/>
                        </a:rPr>
                        <a:t>Session notes</a:t>
                      </a:r>
                    </a:p>
                  </a:txBody>
                  <a:tcPr marL="91440" marR="91440" marT="45720" marB="45720" anchor="ctr">
                    <a:solidFill>
                      <a:srgbClr val="171816"/>
                    </a:solidFill>
                  </a:tcPr>
                </a:tc>
                <a:tc>
                  <a:txBody>
                    <a:bodyPr>
                      <a:noAutofit/>
                    </a:bodyPr>
                    <a:lstStyle/>
                    <a:p>
                      <a:r>
                        <a:rPr sz="1875" b="0">
                          <a:solidFill>
                            <a:srgbClr val="F1EFE6"/>
                          </a:solidFill>
                          <a:latin typeface="Avenir Next"/>
                          <a:ea typeface="Avenir Next"/>
                          <a:cs typeface="Avenir Next"/>
                        </a:rPr>
                        <a:t>“Remember: a quieter second verse.”</a:t>
                      </a:r>
                    </a:p>
                  </a:txBody>
                  <a:tcPr marL="91440" marR="91440" marT="45720" marB="45720" anchor="ctr">
                    <a:solidFill>
                      <a:srgbClr val="171816"/>
                    </a:solidFill>
                  </a:tcPr>
                </a:tc>
                <a:tc>
                  <a:txBody>
                    <a:bodyPr>
                      <a:noAutofit/>
                    </a:bodyPr>
                    <a:lstStyle/>
                    <a:p>
                      <a:r>
                        <a:rPr sz="1875" b="0">
                          <a:solidFill>
                            <a:srgbClr val="F1EFE6"/>
                          </a:solidFill>
                          <a:latin typeface="Avenir Next"/>
                          <a:ea typeface="Avenir Next"/>
                          <a:cs typeface="Avenir Next"/>
                        </a:rPr>
                        <a:t>A saved note at the playhead.</a:t>
                      </a:r>
                    </a:p>
                  </a:txBody>
                  <a:tcPr marL="91440" marR="91440" marT="45720" marB="45720" anchor="ctr">
                    <a:solidFill>
                      <a:srgbClr val="171816"/>
                    </a:solidFill>
                  </a:tcPr>
                </a:tc>
              </a:tr>
            </a:tbl>
          </a:graphicData>
        </a:graphic>
      </p:graphicFrame>
    </p:spTree>
    <p:extLst>
      <p:ext uri="{BB962C8B-B14F-4D97-AF65-F5344CB8AC3E}">
        <p14:creationId xmlns:p14="http://schemas.microsoft.com/office/powerpoint/2010/main" val="560638193"/>
      </p:ext>
    </p:extLst>
  </p:cSld>
</p:sld>
</file>

<file path=ppt/slides/slide4.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18" name="text-cvlt8i-64-674">
            <a:extLst xmlns:a="http://schemas.openxmlformats.org/drawingml/2006/main">
              <a:ext uri="{FF2B5EF4-FFF2-40B4-BE49-F238E27FC236}">
                <a16:creationId xmlns:a16="http://schemas.microsoft.com/office/drawing/2014/main" id="{56EA747B-1C9C-4D87-B856-44D797AE5ACB}"/>
              </a:ext>
            </a:extLst>
          </p:cNvPr>
          <p:cNvSpPr>
            <a:spLocks xmlns:a="http://schemas.openxmlformats.org/drawingml/2006/main" noGrp="1"/>
          </p:cNvSpPr>
          <p:nvPr/>
        </p:nvSpPr>
        <p:spPr>
          <a:xfrm xmlns:a="http://schemas.openxmlformats.org/drawingml/2006/main">
            <a:off x="609600" y="6419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626357"/>
                </a:solidFill>
                <a:latin typeface="Avenir Next"/>
                <a:ea typeface="Avenir Next"/>
                <a:cs typeface="Avenir Next"/>
              </a:defRPr>
            </a:pPr>
            <a:r>
              <a:rPr sz="1350" b="0" i="0">
                <a:solidFill>
                  <a:srgbClr val="626357"/>
                </a:solidFill>
                <a:latin typeface="Avenir Next"/>
                <a:ea typeface="Avenir Next"/>
                <a:cs typeface="Avenir Next"/>
              </a:rPr>
              <a:t>MixRoom / DIGITAL AF Seoul</a:t>
            </a:r>
          </a:p>
        </p:txBody>
      </p:sp>
      <p:sp>
        <p:nvSpPr>
          <p:cNvPr id="2" name="text-cvlt8i-1152-674">
            <a:extLst xmlns:a="http://schemas.openxmlformats.org/drawingml/2006/main">
              <a:ext uri="{FF2B5EF4-FFF2-40B4-BE49-F238E27FC236}">
                <a16:creationId xmlns:a16="http://schemas.microsoft.com/office/drawing/2014/main" id="{CCE5AF10-8984-4CC8-8182-8FC27DB2A638}"/>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i="0">
                <a:solidFill>
                  <a:srgbClr val="626357"/>
                </a:solidFill>
                <a:latin typeface="Avenir Next"/>
                <a:ea typeface="Avenir Next"/>
                <a:cs typeface="Avenir Next"/>
              </a:defRPr>
            </a:pPr>
            <a:r>
              <a:rPr sz="1350" b="0" i="0">
                <a:solidFill>
                  <a:srgbClr val="626357"/>
                </a:solidFill>
                <a:latin typeface="Avenir Next"/>
                <a:ea typeface="Avenir Next"/>
                <a:cs typeface="Avenir Next"/>
              </a:rPr>
              <a:t>04</a:t>
            </a:r>
          </a:p>
        </p:txBody>
      </p:sp>
      <p:sp>
        <p:nvSpPr>
          <p:cNvPr id="3" name="text-cvlt8i-64-58">
            <a:extLst xmlns:a="http://schemas.openxmlformats.org/drawingml/2006/main">
              <a:ext uri="{FF2B5EF4-FFF2-40B4-BE49-F238E27FC236}">
                <a16:creationId xmlns:a16="http://schemas.microsoft.com/office/drawing/2014/main" id="{812EC501-2380-4789-80C0-B6B89C10E528}"/>
              </a:ext>
            </a:extLst>
          </p:cNvPr>
          <p:cNvSpPr>
            <a:spLocks xmlns:a="http://schemas.openxmlformats.org/drawingml/2006/main" noGrp="1"/>
          </p:cNvSpPr>
          <p:nvPr/>
        </p:nvSpPr>
        <p:spPr>
          <a:xfrm xmlns:a="http://schemas.openxmlformats.org/drawingml/2006/main">
            <a:off x="609600" y="5524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i="0">
                <a:solidFill>
                  <a:srgbClr val="171816"/>
                </a:solidFill>
                <a:latin typeface="Georgia"/>
                <a:ea typeface="Georgia"/>
                <a:cs typeface="Georgia"/>
              </a:defRPr>
            </a:pPr>
            <a:r>
              <a:rPr sz="4050" b="0" i="0">
                <a:solidFill>
                  <a:srgbClr val="171816"/>
                </a:solidFill>
                <a:latin typeface="Georgia"/>
                <a:ea typeface="Georgia"/>
                <a:cs typeface="Georgia"/>
              </a:rPr>
              <a:t>A ten-second melody</a:t>
            </a:r>
          </a:p>
        </p:txBody>
      </p:sp>
      <p:sp>
        <p:nvSpPr>
          <p:cNvPr id="4" name="text-cvlt8i-66-144">
            <a:extLst xmlns:a="http://schemas.openxmlformats.org/drawingml/2006/main">
              <a:ext uri="{FF2B5EF4-FFF2-40B4-BE49-F238E27FC236}">
                <a16:creationId xmlns:a16="http://schemas.microsoft.com/office/drawing/2014/main" id="{0B436CD4-6FB3-423D-B355-32E1B9313062}"/>
              </a:ext>
            </a:extLst>
          </p:cNvPr>
          <p:cNvSpPr>
            <a:spLocks xmlns:a="http://schemas.openxmlformats.org/drawingml/2006/main" noGrp="1"/>
          </p:cNvSpPr>
          <p:nvPr/>
        </p:nvSpPr>
        <p:spPr>
          <a:xfrm xmlns:a="http://schemas.openxmlformats.org/drawingml/2006/main">
            <a:off x="628650" y="13716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626357"/>
                </a:solidFill>
                <a:latin typeface="Avenir Next"/>
                <a:ea typeface="Avenir Next"/>
                <a:cs typeface="Avenir Next"/>
              </a:defRPr>
            </a:pPr>
            <a:r>
              <a:rPr sz="1800" b="0" i="0">
                <a:solidFill>
                  <a:srgbClr val="626357"/>
                </a:solidFill>
                <a:latin typeface="Avenir Next"/>
                <a:ea typeface="Avenir Next"/>
                <a:cs typeface="Avenir Next"/>
              </a:rPr>
              <a:t>Demo request: “Record ten seconds of humming and turn it into Warm Keys.”</a:t>
            </a:r>
          </a:p>
        </p:txBody>
      </p:sp>
      <p:sp>
        <p:nvSpPr>
          <p:cNvPr id="5" name="Record the humming">
            <a:extLst xmlns:a="http://schemas.openxmlformats.org/drawingml/2006/main">
              <a:ext uri="{FF2B5EF4-FFF2-40B4-BE49-F238E27FC236}">
                <a16:creationId xmlns:a16="http://schemas.microsoft.com/office/drawing/2014/main" id="{8CB667CA-34D8-4140-ACE2-B5973A82C3EE}"/>
              </a:ext>
            </a:extLst>
          </p:cNvPr>
          <p:cNvSpPr>
            <a:spLocks xmlns:a="http://schemas.openxmlformats.org/drawingml/2006/main" noGrp="1"/>
          </p:cNvSpPr>
          <p:nvPr/>
        </p:nvSpPr>
        <p:spPr>
          <a:xfrm xmlns:a="http://schemas.openxmlformats.org/drawingml/2006/main">
            <a:off x="609600" y="2466975"/>
            <a:ext cx="3790950" cy="2095500"/>
          </a:xfrm>
          <a:prstGeom xmlns:a="http://schemas.openxmlformats.org/drawingml/2006/main" prst="rect">
            <a:avLst/>
          </a:prstGeom>
          <a:solidFill xmlns:a="http://schemas.openxmlformats.org/drawingml/2006/main">
            <a:srgbClr val="F1EFE6"/>
          </a:solidFill>
          <a:ln xmlns:a="http://schemas.openxmlformats.org/drawingml/2006/main" w="14288">
            <a:solidFill>
              <a:srgbClr val="626357"/>
            </a:solidFill>
          </a:ln>
        </p:spPr>
      </p:sp>
      <p:sp>
        <p:nvSpPr>
          <p:cNvPr id="6" name="text-cvlt8i-86-277">
            <a:extLst xmlns:a="http://schemas.openxmlformats.org/drawingml/2006/main">
              <a:ext uri="{FF2B5EF4-FFF2-40B4-BE49-F238E27FC236}">
                <a16:creationId xmlns:a16="http://schemas.microsoft.com/office/drawing/2014/main" id="{C57A8E00-13A8-4E00-BCB1-74937DE8CDB5}"/>
              </a:ext>
            </a:extLst>
          </p:cNvPr>
          <p:cNvSpPr>
            <a:spLocks xmlns:a="http://schemas.openxmlformats.org/drawingml/2006/main" noGrp="1"/>
          </p:cNvSpPr>
          <p:nvPr/>
        </p:nvSpPr>
        <p:spPr>
          <a:xfrm xmlns:a="http://schemas.openxmlformats.org/drawingml/2006/main">
            <a:off x="819150" y="2638425"/>
            <a:ext cx="33718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171816"/>
                </a:solidFill>
                <a:latin typeface="Avenir Next"/>
                <a:ea typeface="Avenir Next"/>
                <a:cs typeface="Avenir Next"/>
              </a:defRPr>
            </a:pPr>
            <a:r>
              <a:rPr sz="2175" b="1" i="0">
                <a:solidFill>
                  <a:srgbClr val="171816"/>
                </a:solidFill>
                <a:latin typeface="Avenir Next"/>
                <a:ea typeface="Avenir Next"/>
                <a:cs typeface="Avenir Next"/>
              </a:rPr>
              <a:t>Record the humming</a:t>
            </a:r>
          </a:p>
        </p:txBody>
      </p:sp>
      <p:sp>
        <p:nvSpPr>
          <p:cNvPr id="7" name="text-cvlt8i-86-331">
            <a:extLst xmlns:a="http://schemas.openxmlformats.org/drawingml/2006/main">
              <a:ext uri="{FF2B5EF4-FFF2-40B4-BE49-F238E27FC236}">
                <a16:creationId xmlns:a16="http://schemas.microsoft.com/office/drawing/2014/main" id="{6BC69ADB-4626-4831-8AF0-3567853FE835}"/>
              </a:ext>
            </a:extLst>
          </p:cNvPr>
          <p:cNvSpPr>
            <a:spLocks xmlns:a="http://schemas.openxmlformats.org/drawingml/2006/main" noGrp="1"/>
          </p:cNvSpPr>
          <p:nvPr/>
        </p:nvSpPr>
        <p:spPr>
          <a:xfrm xmlns:a="http://schemas.openxmlformats.org/drawingml/2006/main">
            <a:off x="819150" y="3152775"/>
            <a:ext cx="3371850" cy="12763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0">
                <a:solidFill>
                  <a:srgbClr val="171816"/>
                </a:solidFill>
                <a:latin typeface="Avenir Next"/>
                <a:ea typeface="Avenir Next"/>
                <a:cs typeface="Avenir Next"/>
              </a:defRPr>
            </a:pPr>
            <a:r>
              <a:rPr sz="1950" b="0" i="0">
                <a:solidFill>
                  <a:srgbClr val="171816"/>
                </a:solidFill>
                <a:latin typeface="Avenir Next"/>
                <a:ea typeface="Avenir Next"/>
                <a:cs typeface="Avenir Next"/>
              </a:rPr>
              <a:t>After a two-second countdown, the Mac records the selected input.</a:t>
            </a:r>
          </a:p>
        </p:txBody>
      </p:sp>
      <p:sp>
        <p:nvSpPr>
          <p:cNvPr id="8" name="Original audio">
            <a:extLst xmlns:a="http://schemas.openxmlformats.org/drawingml/2006/main">
              <a:ext uri="{FF2B5EF4-FFF2-40B4-BE49-F238E27FC236}">
                <a16:creationId xmlns:a16="http://schemas.microsoft.com/office/drawing/2014/main" id="{E0497A5C-AF0F-40D6-8B82-25534487B55D}"/>
              </a:ext>
            </a:extLst>
          </p:cNvPr>
          <p:cNvSpPr>
            <a:spLocks xmlns:a="http://schemas.openxmlformats.org/drawingml/2006/main" noGrp="1"/>
          </p:cNvSpPr>
          <p:nvPr/>
        </p:nvSpPr>
        <p:spPr>
          <a:xfrm xmlns:a="http://schemas.openxmlformats.org/drawingml/2006/main">
            <a:off x="6076950" y="2047875"/>
            <a:ext cx="5505450" cy="1476375"/>
          </a:xfrm>
          <a:prstGeom xmlns:a="http://schemas.openxmlformats.org/drawingml/2006/main" prst="rect">
            <a:avLst/>
          </a:prstGeom>
          <a:solidFill xmlns:a="http://schemas.openxmlformats.org/drawingml/2006/main">
            <a:srgbClr val="F1EFE6"/>
          </a:solidFill>
          <a:ln xmlns:a="http://schemas.openxmlformats.org/drawingml/2006/main" w="14288">
            <a:solidFill>
              <a:srgbClr val="626357"/>
            </a:solidFill>
          </a:ln>
        </p:spPr>
      </p:sp>
      <p:sp>
        <p:nvSpPr>
          <p:cNvPr id="9" name="text-cvlt8i-660-233">
            <a:extLst xmlns:a="http://schemas.openxmlformats.org/drawingml/2006/main">
              <a:ext uri="{FF2B5EF4-FFF2-40B4-BE49-F238E27FC236}">
                <a16:creationId xmlns:a16="http://schemas.microsoft.com/office/drawing/2014/main" id="{1322469E-15CF-41BE-B20A-1A21681BCA95}"/>
              </a:ext>
            </a:extLst>
          </p:cNvPr>
          <p:cNvSpPr>
            <a:spLocks xmlns:a="http://schemas.openxmlformats.org/drawingml/2006/main" noGrp="1"/>
          </p:cNvSpPr>
          <p:nvPr/>
        </p:nvSpPr>
        <p:spPr>
          <a:xfrm xmlns:a="http://schemas.openxmlformats.org/drawingml/2006/main">
            <a:off x="6286500" y="2219325"/>
            <a:ext cx="5086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i="0">
                <a:solidFill>
                  <a:srgbClr val="171816"/>
                </a:solidFill>
                <a:latin typeface="Avenir Next"/>
                <a:ea typeface="Avenir Next"/>
                <a:cs typeface="Avenir Next"/>
              </a:defRPr>
            </a:pPr>
            <a:r>
              <a:rPr sz="2325" b="1" i="0">
                <a:solidFill>
                  <a:srgbClr val="171816"/>
                </a:solidFill>
                <a:latin typeface="Avenir Next"/>
                <a:ea typeface="Avenir Next"/>
                <a:cs typeface="Avenir Next"/>
              </a:rPr>
              <a:t>Original audio</a:t>
            </a:r>
          </a:p>
        </p:txBody>
      </p:sp>
      <p:sp>
        <p:nvSpPr>
          <p:cNvPr id="10" name="text-cvlt8i-660-287">
            <a:extLst xmlns:a="http://schemas.openxmlformats.org/drawingml/2006/main">
              <a:ext uri="{FF2B5EF4-FFF2-40B4-BE49-F238E27FC236}">
                <a16:creationId xmlns:a16="http://schemas.microsoft.com/office/drawing/2014/main" id="{DC4A8565-4B39-421B-83D6-BE0CBA9F5725}"/>
              </a:ext>
            </a:extLst>
          </p:cNvPr>
          <p:cNvSpPr>
            <a:spLocks xmlns:a="http://schemas.openxmlformats.org/drawingml/2006/main" noGrp="1"/>
          </p:cNvSpPr>
          <p:nvPr/>
        </p:nvSpPr>
        <p:spPr>
          <a:xfrm xmlns:a="http://schemas.openxmlformats.org/drawingml/2006/main">
            <a:off x="6286500" y="2733675"/>
            <a:ext cx="5086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0">
                <a:solidFill>
                  <a:srgbClr val="171816"/>
                </a:solidFill>
                <a:latin typeface="Avenir Next"/>
                <a:ea typeface="Avenir Next"/>
                <a:cs typeface="Avenir Next"/>
              </a:defRPr>
            </a:pPr>
            <a:r>
              <a:rPr sz="1950" b="0" i="0">
                <a:solidFill>
                  <a:srgbClr val="171816"/>
                </a:solidFill>
                <a:latin typeface="Avenir Next"/>
                <a:ea typeface="Avenir Next"/>
                <a:cs typeface="Avenir Next"/>
              </a:rPr>
              <a:t>A saved take stays in the project.</a:t>
            </a:r>
          </a:p>
        </p:txBody>
      </p:sp>
      <p:sp>
        <p:nvSpPr>
          <p:cNvPr id="11" name="Editable Warm Keys MIDI">
            <a:extLst xmlns:a="http://schemas.openxmlformats.org/drawingml/2006/main">
              <a:ext uri="{FF2B5EF4-FFF2-40B4-BE49-F238E27FC236}">
                <a16:creationId xmlns:a16="http://schemas.microsoft.com/office/drawing/2014/main" id="{82067FB8-4124-4B86-A287-CBD7E93CE512}"/>
              </a:ext>
            </a:extLst>
          </p:cNvPr>
          <p:cNvSpPr>
            <a:spLocks xmlns:a="http://schemas.openxmlformats.org/drawingml/2006/main" noGrp="1"/>
          </p:cNvSpPr>
          <p:nvPr/>
        </p:nvSpPr>
        <p:spPr>
          <a:xfrm xmlns:a="http://schemas.openxmlformats.org/drawingml/2006/main">
            <a:off x="6076950" y="3838575"/>
            <a:ext cx="5505450" cy="1476375"/>
          </a:xfrm>
          <a:prstGeom xmlns:a="http://schemas.openxmlformats.org/drawingml/2006/main" prst="rect">
            <a:avLst/>
          </a:prstGeom>
          <a:solidFill xmlns:a="http://schemas.openxmlformats.org/drawingml/2006/main">
            <a:srgbClr val="E7C16B"/>
          </a:solidFill>
          <a:ln xmlns:a="http://schemas.openxmlformats.org/drawingml/2006/main" w="14288">
            <a:solidFill>
              <a:srgbClr val="E7C16B"/>
            </a:solidFill>
          </a:ln>
        </p:spPr>
      </p:sp>
      <p:sp>
        <p:nvSpPr>
          <p:cNvPr id="12" name="text-cvlt8i-660-421">
            <a:extLst xmlns:a="http://schemas.openxmlformats.org/drawingml/2006/main">
              <a:ext uri="{FF2B5EF4-FFF2-40B4-BE49-F238E27FC236}">
                <a16:creationId xmlns:a16="http://schemas.microsoft.com/office/drawing/2014/main" id="{03486D5B-D413-45A0-ABC2-57F32B1CD9BC}"/>
              </a:ext>
            </a:extLst>
          </p:cNvPr>
          <p:cNvSpPr>
            <a:spLocks xmlns:a="http://schemas.openxmlformats.org/drawingml/2006/main" noGrp="1"/>
          </p:cNvSpPr>
          <p:nvPr/>
        </p:nvSpPr>
        <p:spPr>
          <a:xfrm xmlns:a="http://schemas.openxmlformats.org/drawingml/2006/main">
            <a:off x="6286500" y="4010025"/>
            <a:ext cx="50863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i="0">
                <a:solidFill>
                  <a:srgbClr val="171816"/>
                </a:solidFill>
                <a:latin typeface="Avenir Next"/>
                <a:ea typeface="Avenir Next"/>
                <a:cs typeface="Avenir Next"/>
              </a:defRPr>
            </a:pPr>
            <a:r>
              <a:rPr sz="2325" b="1" i="0">
                <a:solidFill>
                  <a:srgbClr val="171816"/>
                </a:solidFill>
                <a:latin typeface="Avenir Next"/>
                <a:ea typeface="Avenir Next"/>
                <a:cs typeface="Avenir Next"/>
              </a:rPr>
              <a:t>Editable Warm Keys MIDI</a:t>
            </a:r>
          </a:p>
        </p:txBody>
      </p:sp>
      <p:sp>
        <p:nvSpPr>
          <p:cNvPr id="13" name="text-cvlt8i-660-475">
            <a:extLst xmlns:a="http://schemas.openxmlformats.org/drawingml/2006/main">
              <a:ext uri="{FF2B5EF4-FFF2-40B4-BE49-F238E27FC236}">
                <a16:creationId xmlns:a16="http://schemas.microsoft.com/office/drawing/2014/main" id="{CBEC9372-1FBE-4CB1-B517-6D17BEA1FFE3}"/>
              </a:ext>
            </a:extLst>
          </p:cNvPr>
          <p:cNvSpPr>
            <a:spLocks xmlns:a="http://schemas.openxmlformats.org/drawingml/2006/main" noGrp="1"/>
          </p:cNvSpPr>
          <p:nvPr/>
        </p:nvSpPr>
        <p:spPr>
          <a:xfrm xmlns:a="http://schemas.openxmlformats.org/drawingml/2006/main">
            <a:off x="6286500" y="4524375"/>
            <a:ext cx="5086350" cy="6572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0">
                <a:solidFill>
                  <a:srgbClr val="171816"/>
                </a:solidFill>
                <a:latin typeface="Avenir Next"/>
                <a:ea typeface="Avenir Next"/>
                <a:cs typeface="Avenir Next"/>
              </a:defRPr>
            </a:pPr>
            <a:r>
              <a:rPr sz="1950" b="0" i="0">
                <a:solidFill>
                  <a:srgbClr val="171816"/>
                </a:solidFill>
                <a:latin typeface="Avenir Next"/>
                <a:ea typeface="Avenir Next"/>
                <a:cs typeface="Avenir Next"/>
              </a:rPr>
              <a:t>Basic Pitch turns the melody into notes.</a:t>
            </a:r>
          </a:p>
        </p:txBody>
      </p:sp>
      <p:cxnSp>
        <p:nvCxnSpPr>
          <p:cNvPr id="31" name=""/>
          <p:cNvCxnSpPr>
            <a:stCxn xmlns:a="http://schemas.openxmlformats.org/drawingml/2006/main" id="5" idx="3"/>
            <a:endCxn xmlns:a="http://schemas.openxmlformats.org/drawingml/2006/main" id="8" idx="1"/>
          </p:cNvCxnSpPr>
          <p:nvPr/>
        </p:nvCxnSpPr>
        <p:spPr>
          <a:xfrm xmlns:a="http://schemas.openxmlformats.org/drawingml/2006/main" flipV="1">
            <a:off x="4400550" y="2786063"/>
            <a:ext cx="1676400" cy="728663"/>
          </a:xfrm>
          <a:prstGeom xmlns:a="http://schemas.openxmlformats.org/drawingml/2006/main" prst="bentConnector3">
            <a:avLst>
              <a:gd name="adj1" fmla="val 50000"/>
            </a:avLst>
          </a:prstGeom>
          <a:ln xmlns:a="http://schemas.openxmlformats.org/drawingml/2006/main" w="19050">
            <a:solidFill>
              <a:srgbClr val="626357"/>
            </a:solidFill>
            <a:prstDash val="solid"/>
            <a:tailEnd type="triangle" w="med" len="med"/>
          </a:ln>
        </p:spPr>
      </p:cxnSp>
      <p:cxnSp>
        <p:nvCxnSpPr>
          <p:cNvPr id="32" name=""/>
          <p:cNvCxnSpPr>
            <a:stCxn xmlns:a="http://schemas.openxmlformats.org/drawingml/2006/main" id="5" idx="3"/>
            <a:endCxn xmlns:a="http://schemas.openxmlformats.org/drawingml/2006/main" id="11" idx="1"/>
          </p:cNvCxnSpPr>
          <p:nvPr/>
        </p:nvCxnSpPr>
        <p:spPr>
          <a:xfrm xmlns:a="http://schemas.openxmlformats.org/drawingml/2006/main">
            <a:off x="4400550" y="3514725"/>
            <a:ext cx="1676400" cy="1062038"/>
          </a:xfrm>
          <a:prstGeom xmlns:a="http://schemas.openxmlformats.org/drawingml/2006/main" prst="bentConnector3">
            <a:avLst>
              <a:gd name="adj1" fmla="val 50000"/>
            </a:avLst>
          </a:prstGeom>
          <a:ln xmlns:a="http://schemas.openxmlformats.org/drawingml/2006/main" w="19050">
            <a:solidFill>
              <a:srgbClr val="626357"/>
            </a:solidFill>
            <a:prstDash val="solid"/>
            <a:tailEnd type="triangle" w="med" len="med"/>
          </a:ln>
        </p:spPr>
      </p:cxnSp>
      <p:sp>
        <p:nvSpPr>
          <p:cNvPr id="16" name="text-cvlt8i-67-594">
            <a:extLst xmlns:a="http://schemas.openxmlformats.org/drawingml/2006/main">
              <a:ext uri="{FF2B5EF4-FFF2-40B4-BE49-F238E27FC236}">
                <a16:creationId xmlns:a16="http://schemas.microsoft.com/office/drawing/2014/main" id="{CEF58AB1-0F63-456B-928B-B8671FFFE066}"/>
              </a:ext>
            </a:extLst>
          </p:cNvPr>
          <p:cNvSpPr>
            <a:spLocks xmlns:a="http://schemas.openxmlformats.org/drawingml/2006/main" noGrp="1"/>
          </p:cNvSpPr>
          <p:nvPr/>
        </p:nvSpPr>
        <p:spPr>
          <a:xfrm xmlns:a="http://schemas.openxmlformats.org/drawingml/2006/main">
            <a:off x="638175" y="5657850"/>
            <a:ext cx="10953750"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171816"/>
                </a:solidFill>
                <a:latin typeface="Avenir Next"/>
                <a:ea typeface="Avenir Next"/>
                <a:cs typeface="Avenir Next"/>
              </a:defRPr>
            </a:pPr>
            <a:r>
              <a:rPr sz="1875" b="0" i="0">
                <a:solidFill>
                  <a:srgbClr val="171816"/>
                </a:solidFill>
                <a:latin typeface="Avenir Next"/>
                <a:ea typeface="Avenir Next"/>
                <a:cs typeface="Avenir Next"/>
              </a:rPr>
              <a:t>Then: lower Backing, compare before/after, and keep the version you prefer.</a:t>
            </a:r>
          </a:p>
        </p:txBody>
      </p:sp>
      <p:sp>
        <p:nvSpPr>
          <p:cNvPr id="17" name="text-cvlt8i-67-642">
            <a:extLst xmlns:a="http://schemas.openxmlformats.org/drawingml/2006/main">
              <a:ext uri="{FF2B5EF4-FFF2-40B4-BE49-F238E27FC236}">
                <a16:creationId xmlns:a16="http://schemas.microsoft.com/office/drawing/2014/main" id="{E3D7340D-5CEB-4CC3-A06E-6BC26721D723}"/>
              </a:ext>
            </a:extLst>
          </p:cNvPr>
          <p:cNvSpPr>
            <a:spLocks xmlns:a="http://schemas.openxmlformats.org/drawingml/2006/main" noGrp="1"/>
          </p:cNvSpPr>
          <p:nvPr/>
        </p:nvSpPr>
        <p:spPr>
          <a:xfrm xmlns:a="http://schemas.openxmlformats.org/drawingml/2006/main">
            <a:off x="638175" y="6115050"/>
            <a:ext cx="10953750" cy="266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425" b="0" i="0">
                <a:solidFill>
                  <a:srgbClr val="626357"/>
                </a:solidFill>
                <a:latin typeface="Avenir Next"/>
                <a:ea typeface="Avenir Next"/>
                <a:cs typeface="Avenir Next"/>
              </a:defRPr>
            </a:pPr>
            <a:r>
              <a:rPr sz="1425" b="0" i="0">
                <a:solidFill>
                  <a:srgbClr val="626357"/>
                </a:solidFill>
                <a:latin typeface="Avenir Next"/>
                <a:ea typeface="Avenir Next"/>
                <a:cs typeface="Avenir Next"/>
              </a:rPr>
              <a:t>Live native audio acceptance remains pending</a:t>
            </a:r>
          </a:p>
        </p:txBody>
      </p:sp>
    </p:spTree>
    <p:extLst>
      <p:ext uri="{BB962C8B-B14F-4D97-AF65-F5344CB8AC3E}">
        <p14:creationId xmlns:p14="http://schemas.microsoft.com/office/powerpoint/2010/main" val="1748283192"/>
      </p:ext>
    </p:extLst>
  </p:cSld>
</p:sld>
</file>

<file path=ppt/slides/slide5.xml><?xml version="1.0" encoding="utf-8"?>
<p:sld xmlns:p="http://schemas.openxmlformats.org/presentationml/2006/main">
  <p:cSld>
    <p:bg>
      <p:bgPr>
        <a:solidFill xmlns:a="http://schemas.openxmlformats.org/drawingml/2006/main">
          <a:srgbClr val="171816"/>
        </a:solidFill>
      </p:bgPr>
    </p:bg>
    <p:spTree>
      <p:nvGrpSpPr>
        <p:cNvPr id="1" name=""/>
        <p:cNvGrpSpPr/>
        <p:nvPr/>
      </p:nvGrpSpPr>
      <p:grpSpPr>
        <a:xfrm xmlns:a="http://schemas.openxmlformats.org/drawingml/2006/main"/>
      </p:grpSpPr>
      <p:sp>
        <p:nvSpPr>
          <p:cNvPr id="18" name="text-fp3gy9-64-674">
            <a:extLst xmlns:a="http://schemas.openxmlformats.org/drawingml/2006/main">
              <a:ext uri="{FF2B5EF4-FFF2-40B4-BE49-F238E27FC236}">
                <a16:creationId xmlns:a16="http://schemas.microsoft.com/office/drawing/2014/main" id="{C2994AAF-118E-4D4D-BB12-92A1C97E643F}"/>
              </a:ext>
            </a:extLst>
          </p:cNvPr>
          <p:cNvSpPr>
            <a:spLocks xmlns:a="http://schemas.openxmlformats.org/drawingml/2006/main" noGrp="1"/>
          </p:cNvSpPr>
          <p:nvPr/>
        </p:nvSpPr>
        <p:spPr>
          <a:xfrm xmlns:a="http://schemas.openxmlformats.org/drawingml/2006/main">
            <a:off x="609600" y="6419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B1B2A5"/>
                </a:solidFill>
                <a:latin typeface="Avenir Next"/>
                <a:ea typeface="Avenir Next"/>
                <a:cs typeface="Avenir Next"/>
              </a:defRPr>
            </a:pPr>
            <a:r>
              <a:rPr sz="1350" b="0" i="0">
                <a:solidFill>
                  <a:srgbClr val="B1B2A5"/>
                </a:solidFill>
                <a:latin typeface="Avenir Next"/>
                <a:ea typeface="Avenir Next"/>
                <a:cs typeface="Avenir Next"/>
              </a:rPr>
              <a:t>MixRoom / DIGITAL AF Seoul</a:t>
            </a:r>
          </a:p>
        </p:txBody>
      </p:sp>
      <p:sp>
        <p:nvSpPr>
          <p:cNvPr id="2" name="text-fp3gy9-1152-674">
            <a:extLst xmlns:a="http://schemas.openxmlformats.org/drawingml/2006/main">
              <a:ext uri="{FF2B5EF4-FFF2-40B4-BE49-F238E27FC236}">
                <a16:creationId xmlns:a16="http://schemas.microsoft.com/office/drawing/2014/main" id="{8B2D14AA-B15E-431B-99BB-09E959DD6991}"/>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i="0">
                <a:solidFill>
                  <a:srgbClr val="B1B2A5"/>
                </a:solidFill>
                <a:latin typeface="Avenir Next"/>
                <a:ea typeface="Avenir Next"/>
                <a:cs typeface="Avenir Next"/>
              </a:defRPr>
            </a:pPr>
            <a:r>
              <a:rPr sz="1350" b="0" i="0">
                <a:solidFill>
                  <a:srgbClr val="B1B2A5"/>
                </a:solidFill>
                <a:latin typeface="Avenir Next"/>
                <a:ea typeface="Avenir Next"/>
                <a:cs typeface="Avenir Next"/>
              </a:rPr>
              <a:t>05</a:t>
            </a:r>
          </a:p>
        </p:txBody>
      </p:sp>
      <p:sp>
        <p:nvSpPr>
          <p:cNvPr id="3" name="text-fp3gy9-64-58">
            <a:extLst xmlns:a="http://schemas.openxmlformats.org/drawingml/2006/main">
              <a:ext uri="{FF2B5EF4-FFF2-40B4-BE49-F238E27FC236}">
                <a16:creationId xmlns:a16="http://schemas.microsoft.com/office/drawing/2014/main" id="{7BC70DCB-DE5C-49AA-8745-BD0EC978CFD3}"/>
              </a:ext>
            </a:extLst>
          </p:cNvPr>
          <p:cNvSpPr>
            <a:spLocks xmlns:a="http://schemas.openxmlformats.org/drawingml/2006/main" noGrp="1"/>
          </p:cNvSpPr>
          <p:nvPr/>
        </p:nvSpPr>
        <p:spPr>
          <a:xfrm xmlns:a="http://schemas.openxmlformats.org/drawingml/2006/main">
            <a:off x="609600" y="5524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i="0">
                <a:solidFill>
                  <a:srgbClr val="F1EFE6"/>
                </a:solidFill>
                <a:latin typeface="Georgia"/>
                <a:ea typeface="Georgia"/>
                <a:cs typeface="Georgia"/>
              </a:defRPr>
            </a:pPr>
            <a:r>
              <a:rPr sz="4050" b="0" i="0">
                <a:solidFill>
                  <a:srgbClr val="F1EFE6"/>
                </a:solidFill>
                <a:latin typeface="Georgia"/>
                <a:ea typeface="Georgia"/>
                <a:cs typeface="Georgia"/>
              </a:rPr>
              <a:t>The Mac makes the music</a:t>
            </a:r>
          </a:p>
        </p:txBody>
      </p:sp>
      <p:sp>
        <p:nvSpPr>
          <p:cNvPr id="4" name="text-fp3gy9-66-144">
            <a:extLst xmlns:a="http://schemas.openxmlformats.org/drawingml/2006/main">
              <a:ext uri="{FF2B5EF4-FFF2-40B4-BE49-F238E27FC236}">
                <a16:creationId xmlns:a16="http://schemas.microsoft.com/office/drawing/2014/main" id="{EAE1FCE3-D0BE-41D3-A8B5-6133972FDC31}"/>
              </a:ext>
            </a:extLst>
          </p:cNvPr>
          <p:cNvSpPr>
            <a:spLocks xmlns:a="http://schemas.openxmlformats.org/drawingml/2006/main" noGrp="1"/>
          </p:cNvSpPr>
          <p:nvPr/>
        </p:nvSpPr>
        <p:spPr>
          <a:xfrm xmlns:a="http://schemas.openxmlformats.org/drawingml/2006/main">
            <a:off x="628650" y="13716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B1B2A5"/>
                </a:solidFill>
                <a:latin typeface="Avenir Next"/>
                <a:ea typeface="Avenir Next"/>
                <a:cs typeface="Avenir Next"/>
              </a:defRPr>
            </a:pPr>
            <a:r>
              <a:rPr sz="1800" b="0" i="0">
                <a:solidFill>
                  <a:srgbClr val="B1B2A5"/>
                </a:solidFill>
                <a:latin typeface="Avenir Next"/>
                <a:ea typeface="Avenir Next"/>
                <a:cs typeface="Avenir Next"/>
              </a:rPr>
              <a:t>Command speech uses cloud providers. Musical audio stays in the native project.</a:t>
            </a:r>
          </a:p>
        </p:txBody>
      </p:sp>
      <p:sp>
        <p:nvSpPr>
          <p:cNvPr id="5" name="Lovable companion">
            <a:extLst xmlns:a="http://schemas.openxmlformats.org/drawingml/2006/main">
              <a:ext uri="{FF2B5EF4-FFF2-40B4-BE49-F238E27FC236}">
                <a16:creationId xmlns:a16="http://schemas.microsoft.com/office/drawing/2014/main" id="{BAD10335-E365-4A67-BC20-AB1E078B56C3}"/>
              </a:ext>
            </a:extLst>
          </p:cNvPr>
          <p:cNvSpPr>
            <a:spLocks xmlns:a="http://schemas.openxmlformats.org/drawingml/2006/main" noGrp="1"/>
          </p:cNvSpPr>
          <p:nvPr/>
        </p:nvSpPr>
        <p:spPr>
          <a:xfrm xmlns:a="http://schemas.openxmlformats.org/drawingml/2006/main">
            <a:off x="609600" y="2466975"/>
            <a:ext cx="3105150" cy="2171700"/>
          </a:xfrm>
          <a:prstGeom xmlns:a="http://schemas.openxmlformats.org/drawingml/2006/main" prst="rect">
            <a:avLst/>
          </a:prstGeom>
          <a:solidFill xmlns:a="http://schemas.openxmlformats.org/drawingml/2006/main">
            <a:srgbClr val="171816"/>
          </a:solidFill>
          <a:ln xmlns:a="http://schemas.openxmlformats.org/drawingml/2006/main" w="14288">
            <a:solidFill>
              <a:srgbClr val="3D3E35"/>
            </a:solidFill>
          </a:ln>
        </p:spPr>
      </p:sp>
      <p:sp>
        <p:nvSpPr>
          <p:cNvPr id="6" name="text-fp3gy9-86-277">
            <a:extLst xmlns:a="http://schemas.openxmlformats.org/drawingml/2006/main">
              <a:ext uri="{FF2B5EF4-FFF2-40B4-BE49-F238E27FC236}">
                <a16:creationId xmlns:a16="http://schemas.microsoft.com/office/drawing/2014/main" id="{0789CFB5-D21C-4357-8766-63D1B9A5A804}"/>
              </a:ext>
            </a:extLst>
          </p:cNvPr>
          <p:cNvSpPr>
            <a:spLocks xmlns:a="http://schemas.openxmlformats.org/drawingml/2006/main" noGrp="1"/>
          </p:cNvSpPr>
          <p:nvPr/>
        </p:nvSpPr>
        <p:spPr>
          <a:xfrm xmlns:a="http://schemas.openxmlformats.org/drawingml/2006/main">
            <a:off x="819150" y="2638425"/>
            <a:ext cx="26860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F1EFE6"/>
                </a:solidFill>
                <a:latin typeface="Avenir Next"/>
                <a:ea typeface="Avenir Next"/>
                <a:cs typeface="Avenir Next"/>
              </a:defRPr>
            </a:pPr>
            <a:r>
              <a:rPr sz="2175" b="1" i="0">
                <a:solidFill>
                  <a:srgbClr val="F1EFE6"/>
                </a:solidFill>
                <a:latin typeface="Avenir Next"/>
                <a:ea typeface="Avenir Next"/>
                <a:cs typeface="Avenir Next"/>
              </a:rPr>
              <a:t>Lovable companion</a:t>
            </a:r>
          </a:p>
        </p:txBody>
      </p:sp>
      <p:sp>
        <p:nvSpPr>
          <p:cNvPr id="7" name="text-fp3gy9-86-331">
            <a:extLst xmlns:a="http://schemas.openxmlformats.org/drawingml/2006/main">
              <a:ext uri="{FF2B5EF4-FFF2-40B4-BE49-F238E27FC236}">
                <a16:creationId xmlns:a16="http://schemas.microsoft.com/office/drawing/2014/main" id="{333652CD-724B-4735-BA14-B428D714AE12}"/>
              </a:ext>
            </a:extLst>
          </p:cNvPr>
          <p:cNvSpPr>
            <a:spLocks xmlns:a="http://schemas.openxmlformats.org/drawingml/2006/main" noGrp="1"/>
          </p:cNvSpPr>
          <p:nvPr/>
        </p:nvSpPr>
        <p:spPr>
          <a:xfrm xmlns:a="http://schemas.openxmlformats.org/drawingml/2006/main">
            <a:off x="819150" y="3152775"/>
            <a:ext cx="2686050"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0">
                <a:solidFill>
                  <a:srgbClr val="F1EFE6"/>
                </a:solidFill>
                <a:latin typeface="Avenir Next"/>
                <a:ea typeface="Avenir Next"/>
                <a:cs typeface="Avenir Next"/>
              </a:defRPr>
            </a:pPr>
            <a:r>
              <a:rPr sz="1950" b="0" i="0">
                <a:solidFill>
                  <a:srgbClr val="F1EFE6"/>
                </a:solidFill>
                <a:latin typeface="Avenir Next"/>
                <a:ea typeface="Avenir Next"/>
                <a:cs typeface="Avenir Next"/>
              </a:rPr>
              <a:t>Voice controls</a:t>
            </a:r>
          </a:p>
          <a:p xmlns:a="http://schemas.openxmlformats.org/drawingml/2006/main">
            <a:pPr algn="l">
              <a:defRPr sz="1950" b="0" i="0">
                <a:solidFill>
                  <a:srgbClr val="F1EFE6"/>
                </a:solidFill>
                <a:latin typeface="Avenir Next"/>
                <a:ea typeface="Avenir Next"/>
                <a:cs typeface="Avenir Next"/>
              </a:defRPr>
            </a:pPr>
            <a:r>
              <a:rPr sz="1950" b="0" i="0">
                <a:solidFill>
                  <a:srgbClr val="F1EFE6"/>
                </a:solidFill>
                <a:latin typeface="Avenir Next"/>
                <a:ea typeface="Avenir Next"/>
                <a:cs typeface="Avenir Next"/>
              </a:rPr>
              <a:t>Session status</a:t>
            </a:r>
          </a:p>
          <a:p xmlns:a="http://schemas.openxmlformats.org/drawingml/2006/main">
            <a:pPr algn="l">
              <a:defRPr sz="1950" b="0" i="0">
                <a:solidFill>
                  <a:srgbClr val="F1EFE6"/>
                </a:solidFill>
                <a:latin typeface="Avenir Next"/>
                <a:ea typeface="Avenir Next"/>
                <a:cs typeface="Avenir Next"/>
              </a:defRPr>
            </a:pPr>
            <a:r>
              <a:rPr sz="1950" b="0" i="0">
                <a:solidFill>
                  <a:srgbClr val="F1EFE6"/>
                </a:solidFill>
                <a:latin typeface="Avenir Next"/>
                <a:ea typeface="Avenir Next"/>
                <a:cs typeface="Avenir Next"/>
              </a:rPr>
              <a:t>Verified results</a:t>
            </a:r>
          </a:p>
        </p:txBody>
      </p:sp>
      <p:sp>
        <p:nvSpPr>
          <p:cNvPr id="8" name="Local Python backend">
            <a:extLst xmlns:a="http://schemas.openxmlformats.org/drawingml/2006/main">
              <a:ext uri="{FF2B5EF4-FFF2-40B4-BE49-F238E27FC236}">
                <a16:creationId xmlns:a16="http://schemas.microsoft.com/office/drawing/2014/main" id="{198E0BE1-A9D0-464B-96DF-AB41D1CB247B}"/>
              </a:ext>
            </a:extLst>
          </p:cNvPr>
          <p:cNvSpPr>
            <a:spLocks xmlns:a="http://schemas.openxmlformats.org/drawingml/2006/main" noGrp="1"/>
          </p:cNvSpPr>
          <p:nvPr/>
        </p:nvSpPr>
        <p:spPr>
          <a:xfrm xmlns:a="http://schemas.openxmlformats.org/drawingml/2006/main">
            <a:off x="4324350" y="2466975"/>
            <a:ext cx="3571875" cy="2171700"/>
          </a:xfrm>
          <a:prstGeom xmlns:a="http://schemas.openxmlformats.org/drawingml/2006/main" prst="rect">
            <a:avLst/>
          </a:prstGeom>
          <a:solidFill xmlns:a="http://schemas.openxmlformats.org/drawingml/2006/main">
            <a:srgbClr val="171816"/>
          </a:solidFill>
          <a:ln xmlns:a="http://schemas.openxmlformats.org/drawingml/2006/main" w="14288">
            <a:solidFill>
              <a:srgbClr val="E7C16B"/>
            </a:solidFill>
          </a:ln>
        </p:spPr>
      </p:sp>
      <p:sp>
        <p:nvSpPr>
          <p:cNvPr id="9" name="text-fp3gy9-476-277">
            <a:extLst xmlns:a="http://schemas.openxmlformats.org/drawingml/2006/main">
              <a:ext uri="{FF2B5EF4-FFF2-40B4-BE49-F238E27FC236}">
                <a16:creationId xmlns:a16="http://schemas.microsoft.com/office/drawing/2014/main" id="{5A8415A1-C985-4EA8-9190-6F7F5340EA41}"/>
              </a:ext>
            </a:extLst>
          </p:cNvPr>
          <p:cNvSpPr>
            <a:spLocks xmlns:a="http://schemas.openxmlformats.org/drawingml/2006/main" noGrp="1"/>
          </p:cNvSpPr>
          <p:nvPr/>
        </p:nvSpPr>
        <p:spPr>
          <a:xfrm xmlns:a="http://schemas.openxmlformats.org/drawingml/2006/main">
            <a:off x="4533900" y="2638425"/>
            <a:ext cx="31527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F1EFE6"/>
                </a:solidFill>
                <a:latin typeface="Avenir Next"/>
                <a:ea typeface="Avenir Next"/>
                <a:cs typeface="Avenir Next"/>
              </a:defRPr>
            </a:pPr>
            <a:r>
              <a:rPr sz="2175" b="1" i="0">
                <a:solidFill>
                  <a:srgbClr val="F1EFE6"/>
                </a:solidFill>
                <a:latin typeface="Avenir Next"/>
                <a:ea typeface="Avenir Next"/>
                <a:cs typeface="Avenir Next"/>
              </a:rPr>
              <a:t>Local Python backend</a:t>
            </a:r>
          </a:p>
        </p:txBody>
      </p:sp>
      <p:sp>
        <p:nvSpPr>
          <p:cNvPr id="10" name="text-fp3gy9-476-331">
            <a:extLst xmlns:a="http://schemas.openxmlformats.org/drawingml/2006/main">
              <a:ext uri="{FF2B5EF4-FFF2-40B4-BE49-F238E27FC236}">
                <a16:creationId xmlns:a16="http://schemas.microsoft.com/office/drawing/2014/main" id="{96D181F1-785F-4FBE-B114-43BD0C585A21}"/>
              </a:ext>
            </a:extLst>
          </p:cNvPr>
          <p:cNvSpPr>
            <a:spLocks xmlns:a="http://schemas.openxmlformats.org/drawingml/2006/main" noGrp="1"/>
          </p:cNvSpPr>
          <p:nvPr/>
        </p:nvSpPr>
        <p:spPr>
          <a:xfrm xmlns:a="http://schemas.openxmlformats.org/drawingml/2006/main">
            <a:off x="4533900" y="3152775"/>
            <a:ext cx="31527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F1EFE6"/>
                </a:solidFill>
                <a:latin typeface="Avenir Next"/>
                <a:ea typeface="Avenir Next"/>
                <a:cs typeface="Avenir Next"/>
              </a:defRPr>
            </a:pPr>
            <a:r>
              <a:rPr sz="1875" b="0" i="0">
                <a:solidFill>
                  <a:srgbClr val="F1EFE6"/>
                </a:solidFill>
                <a:latin typeface="Avenir Next"/>
                <a:ea typeface="Avenir Next"/>
                <a:cs typeface="Avenir Next"/>
              </a:rPr>
              <a:t>Pairing and durable queue</a:t>
            </a:r>
          </a:p>
          <a:p xmlns:a="http://schemas.openxmlformats.org/drawingml/2006/main">
            <a:pPr algn="l">
              <a:defRPr sz="1875" b="0" i="0">
                <a:solidFill>
                  <a:srgbClr val="F1EFE6"/>
                </a:solidFill>
                <a:latin typeface="Avenir Next"/>
                <a:ea typeface="Avenir Next"/>
                <a:cs typeface="Avenir Next"/>
              </a:defRPr>
            </a:pPr>
            <a:r>
              <a:rPr sz="1875" b="0" i="0">
                <a:solidFill>
                  <a:srgbClr val="F1EFE6"/>
                </a:solidFill>
                <a:latin typeface="Avenir Next"/>
                <a:ea typeface="Avenir Next"/>
                <a:cs typeface="Avenir Next"/>
              </a:rPr>
              <a:t>OpenAI command planning</a:t>
            </a:r>
          </a:p>
          <a:p xmlns:a="http://schemas.openxmlformats.org/drawingml/2006/main">
            <a:pPr algn="l">
              <a:defRPr sz="1875" b="0" i="0">
                <a:solidFill>
                  <a:srgbClr val="F1EFE6"/>
                </a:solidFill>
                <a:latin typeface="Avenir Next"/>
                <a:ea typeface="Avenir Next"/>
                <a:cs typeface="Avenir Next"/>
              </a:defRPr>
            </a:pPr>
            <a:r>
              <a:rPr sz="1875" b="0" i="0">
                <a:solidFill>
                  <a:srgbClr val="F1EFE6"/>
                </a:solidFill>
                <a:latin typeface="Avenir Next"/>
                <a:ea typeface="Avenir Next"/>
                <a:cs typeface="Avenir Next"/>
              </a:rPr>
              <a:t>SQLite session state</a:t>
            </a:r>
          </a:p>
        </p:txBody>
      </p:sp>
      <p:sp>
        <p:nvSpPr>
          <p:cNvPr id="11" name="MixRoom on Mac">
            <a:extLst xmlns:a="http://schemas.openxmlformats.org/drawingml/2006/main">
              <a:ext uri="{FF2B5EF4-FFF2-40B4-BE49-F238E27FC236}">
                <a16:creationId xmlns:a16="http://schemas.microsoft.com/office/drawing/2014/main" id="{1F63E92C-8B90-4454-AABD-4E310167B688}"/>
              </a:ext>
            </a:extLst>
          </p:cNvPr>
          <p:cNvSpPr>
            <a:spLocks xmlns:a="http://schemas.openxmlformats.org/drawingml/2006/main" noGrp="1"/>
          </p:cNvSpPr>
          <p:nvPr/>
        </p:nvSpPr>
        <p:spPr>
          <a:xfrm xmlns:a="http://schemas.openxmlformats.org/drawingml/2006/main">
            <a:off x="8505825" y="2466975"/>
            <a:ext cx="3076575" cy="2171700"/>
          </a:xfrm>
          <a:prstGeom xmlns:a="http://schemas.openxmlformats.org/drawingml/2006/main" prst="rect">
            <a:avLst/>
          </a:prstGeom>
          <a:solidFill xmlns:a="http://schemas.openxmlformats.org/drawingml/2006/main">
            <a:srgbClr val="171816"/>
          </a:solidFill>
          <a:ln xmlns:a="http://schemas.openxmlformats.org/drawingml/2006/main" w="14288">
            <a:solidFill>
              <a:srgbClr val="3D3E35"/>
            </a:solidFill>
          </a:ln>
        </p:spPr>
      </p:sp>
      <p:sp>
        <p:nvSpPr>
          <p:cNvPr id="12" name="text-fp3gy9-915-277">
            <a:extLst xmlns:a="http://schemas.openxmlformats.org/drawingml/2006/main">
              <a:ext uri="{FF2B5EF4-FFF2-40B4-BE49-F238E27FC236}">
                <a16:creationId xmlns:a16="http://schemas.microsoft.com/office/drawing/2014/main" id="{6E34DAA5-B7B8-48E3-9D7C-F0278CC234C3}"/>
              </a:ext>
            </a:extLst>
          </p:cNvPr>
          <p:cNvSpPr>
            <a:spLocks xmlns:a="http://schemas.openxmlformats.org/drawingml/2006/main" noGrp="1"/>
          </p:cNvSpPr>
          <p:nvPr/>
        </p:nvSpPr>
        <p:spPr>
          <a:xfrm xmlns:a="http://schemas.openxmlformats.org/drawingml/2006/main">
            <a:off x="8715375" y="2638425"/>
            <a:ext cx="2657475"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F1EFE6"/>
                </a:solidFill>
                <a:latin typeface="Avenir Next"/>
                <a:ea typeface="Avenir Next"/>
                <a:cs typeface="Avenir Next"/>
              </a:defRPr>
            </a:pPr>
            <a:r>
              <a:rPr sz="2175" b="1" i="0">
                <a:solidFill>
                  <a:srgbClr val="F1EFE6"/>
                </a:solidFill>
                <a:latin typeface="Avenir Next"/>
                <a:ea typeface="Avenir Next"/>
                <a:cs typeface="Avenir Next"/>
              </a:rPr>
              <a:t>MixRoom on Mac</a:t>
            </a:r>
          </a:p>
        </p:txBody>
      </p:sp>
      <p:sp>
        <p:nvSpPr>
          <p:cNvPr id="13" name="text-fp3gy9-915-331">
            <a:extLst xmlns:a="http://schemas.openxmlformats.org/drawingml/2006/main">
              <a:ext uri="{FF2B5EF4-FFF2-40B4-BE49-F238E27FC236}">
                <a16:creationId xmlns:a16="http://schemas.microsoft.com/office/drawing/2014/main" id="{908C3D55-96F7-4DC5-A927-77F2EAB47B3A}"/>
              </a:ext>
            </a:extLst>
          </p:cNvPr>
          <p:cNvSpPr>
            <a:spLocks xmlns:a="http://schemas.openxmlformats.org/drawingml/2006/main" noGrp="1"/>
          </p:cNvSpPr>
          <p:nvPr/>
        </p:nvSpPr>
        <p:spPr>
          <a:xfrm xmlns:a="http://schemas.openxmlformats.org/drawingml/2006/main">
            <a:off x="8715375" y="3152775"/>
            <a:ext cx="2657475" cy="1352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F1EFE6"/>
                </a:solidFill>
                <a:latin typeface="Avenir Next"/>
                <a:ea typeface="Avenir Next"/>
                <a:cs typeface="Avenir Next"/>
              </a:defRPr>
            </a:pPr>
            <a:r>
              <a:rPr sz="1875" b="0" i="0">
                <a:solidFill>
                  <a:srgbClr val="F1EFE6"/>
                </a:solidFill>
                <a:latin typeface="Avenir Next"/>
                <a:ea typeface="Avenir Next"/>
                <a:cs typeface="Avenir Next"/>
              </a:rPr>
              <a:t>Recording and mixing</a:t>
            </a:r>
          </a:p>
          <a:p xmlns:a="http://schemas.openxmlformats.org/drawingml/2006/main">
            <a:pPr algn="l">
              <a:defRPr sz="1875" b="0" i="0">
                <a:solidFill>
                  <a:srgbClr val="F1EFE6"/>
                </a:solidFill>
                <a:latin typeface="Avenir Next"/>
                <a:ea typeface="Avenir Next"/>
                <a:cs typeface="Avenir Next"/>
              </a:defRPr>
            </a:pPr>
            <a:r>
              <a:rPr sz="1875" b="0" i="0">
                <a:solidFill>
                  <a:srgbClr val="F1EFE6"/>
                </a:solidFill>
                <a:latin typeface="Avenir Next"/>
                <a:ea typeface="Avenir Next"/>
                <a:cs typeface="Avenir Next"/>
              </a:rPr>
              <a:t>Undo and project notes</a:t>
            </a:r>
          </a:p>
          <a:p xmlns:a="http://schemas.openxmlformats.org/drawingml/2006/main">
            <a:pPr algn="l">
              <a:defRPr sz="1875" b="0" i="0">
                <a:solidFill>
                  <a:srgbClr val="F1EFE6"/>
                </a:solidFill>
                <a:latin typeface="Avenir Next"/>
                <a:ea typeface="Avenir Next"/>
                <a:cs typeface="Avenir Next"/>
              </a:defRPr>
            </a:pPr>
            <a:r>
              <a:rPr sz="1875" b="0" i="0">
                <a:solidFill>
                  <a:srgbClr val="F1EFE6"/>
                </a:solidFill>
                <a:latin typeface="Avenir Next"/>
                <a:ea typeface="Avenir Next"/>
                <a:cs typeface="Avenir Next"/>
              </a:rPr>
              <a:t>Local Basic Pitch</a:t>
            </a:r>
          </a:p>
        </p:txBody>
      </p:sp>
      <p:cxnSp>
        <p:nvCxnSpPr>
          <p:cNvPr id="31" name=""/>
          <p:cNvCxnSpPr>
            <a:stCxn xmlns:a="http://schemas.openxmlformats.org/drawingml/2006/main" id="5" idx="3"/>
            <a:endCxn xmlns:a="http://schemas.openxmlformats.org/drawingml/2006/main" id="8" idx="1"/>
          </p:cNvCxnSpPr>
          <p:nvPr/>
        </p:nvCxnSpPr>
        <p:spPr>
          <a:xfrm xmlns:a="http://schemas.openxmlformats.org/drawingml/2006/main">
            <a:off x="3714750" y="3552825"/>
            <a:ext cx="609600" cy="0"/>
          </a:xfrm>
          <a:prstGeom xmlns:a="http://schemas.openxmlformats.org/drawingml/2006/main" prst="straightConnector1">
            <a:avLst/>
          </a:prstGeom>
          <a:ln xmlns:a="http://schemas.openxmlformats.org/drawingml/2006/main" w="19050">
            <a:solidFill>
              <a:srgbClr val="E7C16B"/>
            </a:solidFill>
            <a:prstDash val="solid"/>
            <a:headEnd type="triangle" w="med" len="med"/>
            <a:tailEnd type="triangle" w="med" len="med"/>
          </a:ln>
        </p:spPr>
      </p:cxnSp>
      <p:cxnSp>
        <p:nvCxnSpPr>
          <p:cNvPr id="32" name=""/>
          <p:cNvCxnSpPr>
            <a:stCxn xmlns:a="http://schemas.openxmlformats.org/drawingml/2006/main" id="8" idx="3"/>
            <a:endCxn xmlns:a="http://schemas.openxmlformats.org/drawingml/2006/main" id="11" idx="1"/>
          </p:cNvCxnSpPr>
          <p:nvPr/>
        </p:nvCxnSpPr>
        <p:spPr>
          <a:xfrm xmlns:a="http://schemas.openxmlformats.org/drawingml/2006/main">
            <a:off x="7896225" y="3552825"/>
            <a:ext cx="609600" cy="0"/>
          </a:xfrm>
          <a:prstGeom xmlns:a="http://schemas.openxmlformats.org/drawingml/2006/main" prst="straightConnector1">
            <a:avLst/>
          </a:prstGeom>
          <a:ln xmlns:a="http://schemas.openxmlformats.org/drawingml/2006/main" w="19050">
            <a:solidFill>
              <a:srgbClr val="E7C16B"/>
            </a:solidFill>
            <a:prstDash val="solid"/>
            <a:headEnd type="triangle" w="med" len="med"/>
            <a:tailEnd type="triangle" w="med" len="med"/>
          </a:ln>
        </p:spPr>
      </p:cxnSp>
      <p:sp>
        <p:nvSpPr>
          <p:cNvPr id="16" name="text-fp3gy9-66-532">
            <a:extLst xmlns:a="http://schemas.openxmlformats.org/drawingml/2006/main">
              <a:ext uri="{FF2B5EF4-FFF2-40B4-BE49-F238E27FC236}">
                <a16:creationId xmlns:a16="http://schemas.microsoft.com/office/drawing/2014/main" id="{D687ED14-1033-4C0A-B641-FC775885AFE3}"/>
              </a:ext>
            </a:extLst>
          </p:cNvPr>
          <p:cNvSpPr>
            <a:spLocks xmlns:a="http://schemas.openxmlformats.org/drawingml/2006/main" noGrp="1"/>
          </p:cNvSpPr>
          <p:nvPr/>
        </p:nvSpPr>
        <p:spPr>
          <a:xfrm xmlns:a="http://schemas.openxmlformats.org/drawingml/2006/main">
            <a:off x="628650" y="5067300"/>
            <a:ext cx="323850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325" b="1" i="0">
                <a:solidFill>
                  <a:srgbClr val="E7C16B"/>
                </a:solidFill>
                <a:latin typeface="Avenir Next"/>
                <a:ea typeface="Avenir Next"/>
                <a:cs typeface="Avenir Next"/>
              </a:defRPr>
            </a:pPr>
            <a:r>
              <a:rPr sz="2325" b="1" i="0">
                <a:solidFill>
                  <a:srgbClr val="E7C16B"/>
                </a:solidFill>
                <a:latin typeface="Avenir Next"/>
                <a:ea typeface="Avenir Next"/>
                <a:cs typeface="Avenir Next"/>
              </a:rPr>
              <a:t>ElevenLabs</a:t>
            </a:r>
          </a:p>
        </p:txBody>
      </p:sp>
      <p:sp>
        <p:nvSpPr>
          <p:cNvPr id="17" name="text-fp3gy9-66-581">
            <a:extLst xmlns:a="http://schemas.openxmlformats.org/drawingml/2006/main">
              <a:ext uri="{FF2B5EF4-FFF2-40B4-BE49-F238E27FC236}">
                <a16:creationId xmlns:a16="http://schemas.microsoft.com/office/drawing/2014/main" id="{845C936B-8533-4046-873A-6BE9AB76EDA7}"/>
              </a:ext>
            </a:extLst>
          </p:cNvPr>
          <p:cNvSpPr>
            <a:spLocks xmlns:a="http://schemas.openxmlformats.org/drawingml/2006/main" noGrp="1"/>
          </p:cNvSpPr>
          <p:nvPr/>
        </p:nvSpPr>
        <p:spPr>
          <a:xfrm xmlns:a="http://schemas.openxmlformats.org/drawingml/2006/main">
            <a:off x="628650" y="5534025"/>
            <a:ext cx="8572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0">
                <a:solidFill>
                  <a:srgbClr val="F1EFE6"/>
                </a:solidFill>
                <a:latin typeface="Avenir Next"/>
                <a:ea typeface="Avenir Next"/>
                <a:cs typeface="Avenir Next"/>
              </a:defRPr>
            </a:pPr>
            <a:r>
              <a:rPr sz="1950" b="0" i="0">
                <a:solidFill>
                  <a:srgbClr val="F1EFE6"/>
                </a:solidFill>
                <a:latin typeface="Avenir Next"/>
                <a:ea typeface="Avenir Next"/>
                <a:cs typeface="Avenir Next"/>
              </a:rPr>
              <a:t>Scribe command transcription and streamed spoken replies</a:t>
            </a:r>
          </a:p>
        </p:txBody>
      </p:sp>
    </p:spTree>
    <p:extLst>
      <p:ext uri="{BB962C8B-B14F-4D97-AF65-F5344CB8AC3E}">
        <p14:creationId xmlns:p14="http://schemas.microsoft.com/office/powerpoint/2010/main" val="1779508805"/>
      </p:ext>
    </p:extLst>
  </p:cSld>
</p:sld>
</file>

<file path=ppt/slides/slide6.xml><?xml version="1.0" encoding="utf-8"?>
<p:sld xmlns:p="http://schemas.openxmlformats.org/presentationml/2006/main">
  <p:cSld>
    <p:bg>
      <p:bgPr>
        <a:solidFill xmlns:a="http://schemas.openxmlformats.org/drawingml/2006/main">
          <a:srgbClr val="E7C16B"/>
        </a:solidFill>
      </p:bgPr>
    </p:bg>
    <p:spTree>
      <p:nvGrpSpPr>
        <p:cNvPr id="1" name=""/>
        <p:cNvGrpSpPr/>
        <p:nvPr/>
      </p:nvGrpSpPr>
      <p:grpSpPr>
        <a:xfrm xmlns:a="http://schemas.openxmlformats.org/drawingml/2006/main"/>
      </p:grpSpPr>
      <p:sp>
        <p:nvSpPr>
          <p:cNvPr id="8" name="text-b6tt8d-64-674">
            <a:extLst xmlns:a="http://schemas.openxmlformats.org/drawingml/2006/main">
              <a:ext uri="{FF2B5EF4-FFF2-40B4-BE49-F238E27FC236}">
                <a16:creationId xmlns:a16="http://schemas.microsoft.com/office/drawing/2014/main" id="{88DE5954-29F7-4186-B465-4CEA60F123AC}"/>
              </a:ext>
            </a:extLst>
          </p:cNvPr>
          <p:cNvSpPr>
            <a:spLocks xmlns:a="http://schemas.openxmlformats.org/drawingml/2006/main" noGrp="1"/>
          </p:cNvSpPr>
          <p:nvPr/>
        </p:nvSpPr>
        <p:spPr>
          <a:xfrm xmlns:a="http://schemas.openxmlformats.org/drawingml/2006/main">
            <a:off x="609600" y="6419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626357"/>
                </a:solidFill>
                <a:latin typeface="Avenir Next"/>
                <a:ea typeface="Avenir Next"/>
                <a:cs typeface="Avenir Next"/>
              </a:defRPr>
            </a:pPr>
            <a:r>
              <a:rPr sz="1350" b="0" i="0">
                <a:solidFill>
                  <a:srgbClr val="626357"/>
                </a:solidFill>
                <a:latin typeface="Avenir Next"/>
                <a:ea typeface="Avenir Next"/>
                <a:cs typeface="Avenir Next"/>
              </a:rPr>
              <a:t>MixRoom / DIGITAL AF Seoul</a:t>
            </a:r>
          </a:p>
        </p:txBody>
      </p:sp>
      <p:sp>
        <p:nvSpPr>
          <p:cNvPr id="2" name="text-b6tt8d-1152-674">
            <a:extLst xmlns:a="http://schemas.openxmlformats.org/drawingml/2006/main">
              <a:ext uri="{FF2B5EF4-FFF2-40B4-BE49-F238E27FC236}">
                <a16:creationId xmlns:a16="http://schemas.microsoft.com/office/drawing/2014/main" id="{84ECE2BC-46C3-413D-88E9-54E00C0FE686}"/>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i="0">
                <a:solidFill>
                  <a:srgbClr val="626357"/>
                </a:solidFill>
                <a:latin typeface="Avenir Next"/>
                <a:ea typeface="Avenir Next"/>
                <a:cs typeface="Avenir Next"/>
              </a:defRPr>
            </a:pPr>
            <a:r>
              <a:rPr sz="1350" b="0" i="0">
                <a:solidFill>
                  <a:srgbClr val="626357"/>
                </a:solidFill>
                <a:latin typeface="Avenir Next"/>
                <a:ea typeface="Avenir Next"/>
                <a:cs typeface="Avenir Next"/>
              </a:rPr>
              <a:t>06</a:t>
            </a:r>
          </a:p>
        </p:txBody>
      </p:sp>
      <p:sp>
        <p:nvSpPr>
          <p:cNvPr id="3" name="text-b6tt8d-64-72">
            <a:extLst xmlns:a="http://schemas.openxmlformats.org/drawingml/2006/main">
              <a:ext uri="{FF2B5EF4-FFF2-40B4-BE49-F238E27FC236}">
                <a16:creationId xmlns:a16="http://schemas.microsoft.com/office/drawing/2014/main" id="{335B4836-BD97-4C45-AA23-E357EA92CA4F}"/>
              </a:ext>
            </a:extLst>
          </p:cNvPr>
          <p:cNvSpPr>
            <a:spLocks xmlns:a="http://schemas.openxmlformats.org/drawingml/2006/main" noGrp="1"/>
          </p:cNvSpPr>
          <p:nvPr/>
        </p:nvSpPr>
        <p:spPr>
          <a:xfrm xmlns:a="http://schemas.openxmlformats.org/drawingml/2006/main">
            <a:off x="609600" y="685800"/>
            <a:ext cx="10972800" cy="819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i="0">
                <a:solidFill>
                  <a:srgbClr val="171816"/>
                </a:solidFill>
                <a:latin typeface="Georgia"/>
                <a:ea typeface="Georgia"/>
                <a:cs typeface="Georgia"/>
              </a:defRPr>
            </a:pPr>
            <a:r>
              <a:rPr sz="4050" b="0" i="0">
                <a:solidFill>
                  <a:srgbClr val="171816"/>
                </a:solidFill>
                <a:latin typeface="Georgia"/>
                <a:ea typeface="Georgia"/>
                <a:cs typeface="Georgia"/>
              </a:rPr>
              <a:t>First customer hypothesis</a:t>
            </a:r>
          </a:p>
        </p:txBody>
      </p:sp>
      <p:sp>
        <p:nvSpPr>
          <p:cNvPr id="4" name="text-b6tt8d-66-206">
            <a:extLst xmlns:a="http://schemas.openxmlformats.org/drawingml/2006/main">
              <a:ext uri="{FF2B5EF4-FFF2-40B4-BE49-F238E27FC236}">
                <a16:creationId xmlns:a16="http://schemas.microsoft.com/office/drawing/2014/main" id="{8B8D651A-FB29-45CB-B59F-2494C9A76C89}"/>
              </a:ext>
            </a:extLst>
          </p:cNvPr>
          <p:cNvSpPr>
            <a:spLocks xmlns:a="http://schemas.openxmlformats.org/drawingml/2006/main" noGrp="1"/>
          </p:cNvSpPr>
          <p:nvPr/>
        </p:nvSpPr>
        <p:spPr>
          <a:xfrm xmlns:a="http://schemas.openxmlformats.org/drawingml/2006/main">
            <a:off x="628650" y="1962150"/>
            <a:ext cx="10620375" cy="1390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725" b="0" i="0">
                <a:solidFill>
                  <a:srgbClr val="171816"/>
                </a:solidFill>
                <a:latin typeface="Avenir Next"/>
                <a:ea typeface="Avenir Next"/>
                <a:cs typeface="Avenir Next"/>
              </a:defRPr>
            </a:pPr>
            <a:r>
              <a:rPr sz="4725" b="0" i="0">
                <a:solidFill>
                  <a:srgbClr val="171816"/>
                </a:solidFill>
                <a:latin typeface="Avenir Next"/>
                <a:ea typeface="Avenir Next"/>
                <a:cs typeface="Avenir Next"/>
              </a:rPr>
              <a:t>Independent musicians</a:t>
            </a:r>
          </a:p>
          <a:p xmlns:a="http://schemas.openxmlformats.org/drawingml/2006/main">
            <a:pPr algn="l">
              <a:defRPr sz="4725" b="0" i="0">
                <a:solidFill>
                  <a:srgbClr val="171816"/>
                </a:solidFill>
                <a:latin typeface="Avenir Next"/>
                <a:ea typeface="Avenir Next"/>
                <a:cs typeface="Avenir Next"/>
              </a:defRPr>
            </a:pPr>
            <a:r>
              <a:rPr sz="4725" b="0" i="0">
                <a:solidFill>
                  <a:srgbClr val="171816"/>
                </a:solidFill>
                <a:latin typeface="Avenir Next"/>
                <a:ea typeface="Avenir Next"/>
                <a:cs typeface="Avenir Next"/>
              </a:rPr>
              <a:t>who record every week</a:t>
            </a:r>
          </a:p>
        </p:txBody>
      </p:sp>
      <p:sp>
        <p:nvSpPr>
          <p:cNvPr id="5" name="text-b6tt8d-70-418">
            <a:extLst xmlns:a="http://schemas.openxmlformats.org/drawingml/2006/main">
              <a:ext uri="{FF2B5EF4-FFF2-40B4-BE49-F238E27FC236}">
                <a16:creationId xmlns:a16="http://schemas.microsoft.com/office/drawing/2014/main" id="{265A8A95-9354-48A5-A289-7C1CFA935AA0}"/>
              </a:ext>
            </a:extLst>
          </p:cNvPr>
          <p:cNvSpPr>
            <a:spLocks xmlns:a="http://schemas.openxmlformats.org/drawingml/2006/main" noGrp="1"/>
          </p:cNvSpPr>
          <p:nvPr/>
        </p:nvSpPr>
        <p:spPr>
          <a:xfrm xmlns:a="http://schemas.openxmlformats.org/drawingml/2006/main">
            <a:off x="666750" y="3981450"/>
            <a:ext cx="10572750" cy="5334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250" b="0" i="0">
                <a:solidFill>
                  <a:srgbClr val="171816"/>
                </a:solidFill>
                <a:latin typeface="Avenir Next"/>
                <a:ea typeface="Avenir Next"/>
                <a:cs typeface="Avenir Next"/>
              </a:defRPr>
            </a:pPr>
            <a:r>
              <a:rPr sz="2250" b="0" i="0">
                <a:solidFill>
                  <a:srgbClr val="171816"/>
                </a:solidFill>
                <a:latin typeface="Avenir Next"/>
                <a:ea typeface="Avenir Next"/>
                <a:cs typeface="Avenir Next"/>
              </a:rPr>
              <a:t>Proposed pilot: five observed sessions with musicians in Seoul.</a:t>
            </a:r>
          </a:p>
        </p:txBody>
      </p:sp>
      <p:sp>
        <p:nvSpPr>
          <p:cNvPr id="6" name="text-b6tt8d-70-503">
            <a:extLst xmlns:a="http://schemas.openxmlformats.org/drawingml/2006/main">
              <a:ext uri="{FF2B5EF4-FFF2-40B4-BE49-F238E27FC236}">
                <a16:creationId xmlns:a16="http://schemas.microsoft.com/office/drawing/2014/main" id="{ABC73A1C-737D-463A-B993-A6DFFE807695}"/>
              </a:ext>
            </a:extLst>
          </p:cNvPr>
          <p:cNvSpPr>
            <a:spLocks xmlns:a="http://schemas.openxmlformats.org/drawingml/2006/main" noGrp="1"/>
          </p:cNvSpPr>
          <p:nvPr/>
        </p:nvSpPr>
        <p:spPr>
          <a:xfrm xmlns:a="http://schemas.openxmlformats.org/drawingml/2006/main">
            <a:off x="666750" y="479107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0" i="0">
                <a:solidFill>
                  <a:srgbClr val="171816"/>
                </a:solidFill>
                <a:latin typeface="Avenir Next"/>
                <a:ea typeface="Avenir Next"/>
                <a:cs typeface="Avenir Next"/>
              </a:defRPr>
            </a:pPr>
            <a:r>
              <a:rPr sz="2175" b="0" i="0">
                <a:solidFill>
                  <a:srgbClr val="171816"/>
                </a:solidFill>
                <a:latin typeface="Avenir Next"/>
                <a:ea typeface="Avenir Next"/>
                <a:cs typeface="Avenir Next"/>
              </a:rPr>
              <a:t>Measure completed takes without mouse use, repeat use,</a:t>
            </a:r>
          </a:p>
          <a:p xmlns:a="http://schemas.openxmlformats.org/drawingml/2006/main">
            <a:pPr algn="l">
              <a:defRPr sz="2175" b="0" i="0">
                <a:solidFill>
                  <a:srgbClr val="171816"/>
                </a:solidFill>
                <a:latin typeface="Avenir Next"/>
                <a:ea typeface="Avenir Next"/>
                <a:cs typeface="Avenir Next"/>
              </a:defRPr>
            </a:pPr>
            <a:r>
              <a:rPr sz="2175" b="0" i="0">
                <a:solidFill>
                  <a:srgbClr val="171816"/>
                </a:solidFill>
                <a:latin typeface="Avenir Next"/>
                <a:ea typeface="Avenir Next"/>
                <a:cs typeface="Avenir Next"/>
              </a:rPr>
              <a:t>and willingness to pay for a recurring voice workflow.</a:t>
            </a:r>
          </a:p>
        </p:txBody>
      </p:sp>
      <p:sp>
        <p:nvSpPr>
          <p:cNvPr id="7" name="text-b6tt8d-71-619">
            <a:extLst xmlns:a="http://schemas.openxmlformats.org/drawingml/2006/main">
              <a:ext uri="{FF2B5EF4-FFF2-40B4-BE49-F238E27FC236}">
                <a16:creationId xmlns:a16="http://schemas.microsoft.com/office/drawing/2014/main" id="{2564EC44-81BC-45E8-B377-D34A36111EA9}"/>
              </a:ext>
            </a:extLst>
          </p:cNvPr>
          <p:cNvSpPr>
            <a:spLocks xmlns:a="http://schemas.openxmlformats.org/drawingml/2006/main" noGrp="1"/>
          </p:cNvSpPr>
          <p:nvPr/>
        </p:nvSpPr>
        <p:spPr>
          <a:xfrm xmlns:a="http://schemas.openxmlformats.org/drawingml/2006/main">
            <a:off x="676275" y="5895975"/>
            <a:ext cx="1000125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171816"/>
                </a:solidFill>
                <a:latin typeface="Avenir Next"/>
                <a:ea typeface="Avenir Next"/>
                <a:cs typeface="Avenir Next"/>
              </a:defRPr>
            </a:pPr>
            <a:r>
              <a:rPr sz="1725" b="1" i="0">
                <a:solidFill>
                  <a:srgbClr val="171816"/>
                </a:solidFill>
                <a:latin typeface="Avenir Next"/>
                <a:ea typeface="Avenir Next"/>
                <a:cs typeface="Avenir Next"/>
              </a:rPr>
              <a:t>Pricing and paid demand remain unvalidated</a:t>
            </a:r>
          </a:p>
        </p:txBody>
      </p:sp>
    </p:spTree>
    <p:extLst>
      <p:ext uri="{BB962C8B-B14F-4D97-AF65-F5344CB8AC3E}">
        <p14:creationId xmlns:p14="http://schemas.microsoft.com/office/powerpoint/2010/main" val="577240896"/>
      </p:ext>
    </p:extLst>
  </p:cSld>
</p:sld>
</file>

<file path=ppt/slides/slide7.xml><?xml version="1.0" encoding="utf-8"?>
<p:sld xmlns:p="http://schemas.openxmlformats.org/presentationml/2006/main">
  <p:cSld>
    <p:bg>
      <p:bgPr>
        <a:solidFill xmlns:a="http://schemas.openxmlformats.org/drawingml/2006/main">
          <a:srgbClr val="F1EFE6"/>
        </a:solidFill>
      </p:bgPr>
    </p:bg>
    <p:spTree>
      <p:nvGrpSpPr>
        <p:cNvPr id="1" name=""/>
        <p:cNvGrpSpPr/>
        <p:nvPr/>
      </p:nvGrpSpPr>
      <p:grpSpPr>
        <a:xfrm xmlns:a="http://schemas.openxmlformats.org/drawingml/2006/main"/>
      </p:grpSpPr>
      <p:sp>
        <p:nvSpPr>
          <p:cNvPr id="14" name="text-qx67ge-64-674">
            <a:extLst xmlns:a="http://schemas.openxmlformats.org/drawingml/2006/main">
              <a:ext uri="{FF2B5EF4-FFF2-40B4-BE49-F238E27FC236}">
                <a16:creationId xmlns:a16="http://schemas.microsoft.com/office/drawing/2014/main" id="{419380A3-B4EB-4762-AB62-8C0E516CF654}"/>
              </a:ext>
            </a:extLst>
          </p:cNvPr>
          <p:cNvSpPr>
            <a:spLocks xmlns:a="http://schemas.openxmlformats.org/drawingml/2006/main" noGrp="1"/>
          </p:cNvSpPr>
          <p:nvPr/>
        </p:nvSpPr>
        <p:spPr>
          <a:xfrm xmlns:a="http://schemas.openxmlformats.org/drawingml/2006/main">
            <a:off x="609600" y="6419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626357"/>
                </a:solidFill>
                <a:latin typeface="Avenir Next"/>
                <a:ea typeface="Avenir Next"/>
                <a:cs typeface="Avenir Next"/>
              </a:defRPr>
            </a:pPr>
            <a:r>
              <a:rPr sz="1350" b="0" i="0">
                <a:solidFill>
                  <a:srgbClr val="626357"/>
                </a:solidFill>
                <a:latin typeface="Avenir Next"/>
                <a:ea typeface="Avenir Next"/>
                <a:cs typeface="Avenir Next"/>
              </a:rPr>
              <a:t>MixRoom / Demo appendix</a:t>
            </a:r>
          </a:p>
        </p:txBody>
      </p:sp>
      <p:sp>
        <p:nvSpPr>
          <p:cNvPr id="2" name="text-qx67ge-1152-674">
            <a:extLst xmlns:a="http://schemas.openxmlformats.org/drawingml/2006/main">
              <a:ext uri="{FF2B5EF4-FFF2-40B4-BE49-F238E27FC236}">
                <a16:creationId xmlns:a16="http://schemas.microsoft.com/office/drawing/2014/main" id="{58B1A7E0-99D7-4067-ABF3-C594FE8C7823}"/>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i="0">
                <a:solidFill>
                  <a:srgbClr val="626357"/>
                </a:solidFill>
                <a:latin typeface="Avenir Next"/>
                <a:ea typeface="Avenir Next"/>
                <a:cs typeface="Avenir Next"/>
              </a:defRPr>
            </a:pPr>
            <a:r>
              <a:rPr sz="1350" b="0" i="0">
                <a:solidFill>
                  <a:srgbClr val="626357"/>
                </a:solidFill>
                <a:latin typeface="Avenir Next"/>
                <a:ea typeface="Avenir Next"/>
                <a:cs typeface="Avenir Next"/>
              </a:rPr>
              <a:t>07</a:t>
            </a:r>
          </a:p>
        </p:txBody>
      </p:sp>
      <p:sp>
        <p:nvSpPr>
          <p:cNvPr id="3" name="text-qx67ge-64-58">
            <a:extLst xmlns:a="http://schemas.openxmlformats.org/drawingml/2006/main">
              <a:ext uri="{FF2B5EF4-FFF2-40B4-BE49-F238E27FC236}">
                <a16:creationId xmlns:a16="http://schemas.microsoft.com/office/drawing/2014/main" id="{C5427FBC-B25C-4170-9CD1-3887A07CA724}"/>
              </a:ext>
            </a:extLst>
          </p:cNvPr>
          <p:cNvSpPr>
            <a:spLocks xmlns:a="http://schemas.openxmlformats.org/drawingml/2006/main" noGrp="1"/>
          </p:cNvSpPr>
          <p:nvPr/>
        </p:nvSpPr>
        <p:spPr>
          <a:xfrm xmlns:a="http://schemas.openxmlformats.org/drawingml/2006/main">
            <a:off x="609600" y="5524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i="0">
                <a:solidFill>
                  <a:srgbClr val="171816"/>
                </a:solidFill>
                <a:latin typeface="Georgia"/>
                <a:ea typeface="Georgia"/>
                <a:cs typeface="Georgia"/>
              </a:defRPr>
            </a:pPr>
            <a:r>
              <a:rPr sz="4050" b="0" i="0">
                <a:solidFill>
                  <a:srgbClr val="171816"/>
                </a:solidFill>
                <a:latin typeface="Georgia"/>
                <a:ea typeface="Georgia"/>
                <a:cs typeface="Georgia"/>
              </a:rPr>
              <a:t>Demo setup</a:t>
            </a:r>
          </a:p>
        </p:txBody>
      </p:sp>
      <p:sp>
        <p:nvSpPr>
          <p:cNvPr id="4" name="text-qx67ge-66-195">
            <a:extLst xmlns:a="http://schemas.openxmlformats.org/drawingml/2006/main">
              <a:ext uri="{FF2B5EF4-FFF2-40B4-BE49-F238E27FC236}">
                <a16:creationId xmlns:a16="http://schemas.microsoft.com/office/drawing/2014/main" id="{565C50A9-8962-4E3A-8309-02B7A4CEF839}"/>
              </a:ext>
            </a:extLst>
          </p:cNvPr>
          <p:cNvSpPr>
            <a:spLocks xmlns:a="http://schemas.openxmlformats.org/drawingml/2006/main" noGrp="1"/>
          </p:cNvSpPr>
          <p:nvPr/>
        </p:nvSpPr>
        <p:spPr>
          <a:xfrm xmlns:a="http://schemas.openxmlformats.org/drawingml/2006/main">
            <a:off x="628650" y="1857375"/>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171816"/>
                </a:solidFill>
                <a:latin typeface="Avenir Next"/>
                <a:ea typeface="Avenir Next"/>
                <a:cs typeface="Avenir Next"/>
              </a:defRPr>
            </a:pPr>
            <a:r>
              <a:rPr sz="2175" b="1" i="0">
                <a:solidFill>
                  <a:srgbClr val="171816"/>
                </a:solidFill>
                <a:latin typeface="Avenir Next"/>
                <a:ea typeface="Avenir Next"/>
                <a:cs typeface="Avenir Next"/>
              </a:rPr>
              <a:t>1  Open the Lovable companion</a:t>
            </a:r>
          </a:p>
        </p:txBody>
      </p:sp>
      <p:sp>
        <p:nvSpPr>
          <p:cNvPr id="5" name="text-qx67ge-66-246">
            <a:extLst xmlns:a="http://schemas.openxmlformats.org/drawingml/2006/main">
              <a:ext uri="{FF2B5EF4-FFF2-40B4-BE49-F238E27FC236}">
                <a16:creationId xmlns:a16="http://schemas.microsoft.com/office/drawing/2014/main" id="{CA40176F-6CC3-4A04-99FD-63B4ABC75498}"/>
              </a:ext>
            </a:extLst>
          </p:cNvPr>
          <p:cNvSpPr>
            <a:spLocks xmlns:a="http://schemas.openxmlformats.org/drawingml/2006/main" noGrp="1"/>
          </p:cNvSpPr>
          <p:nvPr/>
        </p:nvSpPr>
        <p:spPr>
          <a:xfrm xmlns:a="http://schemas.openxmlformats.org/drawingml/2006/main">
            <a:off x="628650" y="2343150"/>
            <a:ext cx="523875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171816"/>
                </a:solidFill>
                <a:latin typeface="Avenir Next"/>
                <a:ea typeface="Avenir Next"/>
                <a:cs typeface="Avenir Next"/>
              </a:defRPr>
            </a:pPr>
            <a:r>
              <a:rPr sz="1875" b="0" i="0">
                <a:solidFill>
                  <a:srgbClr val="171816"/>
                </a:solidFill>
                <a:latin typeface="Avenir Next"/>
                <a:ea typeface="Avenir Next"/>
                <a:cs typeface="Avenir Next"/>
              </a:rPr>
              <a:t>https://mix-voice-studio.lovable.app</a:t>
            </a:r>
          </a:p>
        </p:txBody>
      </p:sp>
      <p:sp>
        <p:nvSpPr>
          <p:cNvPr id="6" name="text-qx67ge-66-322">
            <a:extLst xmlns:a="http://schemas.openxmlformats.org/drawingml/2006/main">
              <a:ext uri="{FF2B5EF4-FFF2-40B4-BE49-F238E27FC236}">
                <a16:creationId xmlns:a16="http://schemas.microsoft.com/office/drawing/2014/main" id="{52F65ABA-926A-4E3D-AAEB-4F1DF646A462}"/>
              </a:ext>
            </a:extLst>
          </p:cNvPr>
          <p:cNvSpPr>
            <a:spLocks xmlns:a="http://schemas.openxmlformats.org/drawingml/2006/main" noGrp="1"/>
          </p:cNvSpPr>
          <p:nvPr/>
        </p:nvSpPr>
        <p:spPr>
          <a:xfrm xmlns:a="http://schemas.openxmlformats.org/drawingml/2006/main">
            <a:off x="628650" y="306705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171816"/>
                </a:solidFill>
                <a:latin typeface="Avenir Next"/>
                <a:ea typeface="Avenir Next"/>
                <a:cs typeface="Avenir Next"/>
              </a:defRPr>
            </a:pPr>
            <a:r>
              <a:rPr sz="2175" b="1" i="0">
                <a:solidFill>
                  <a:srgbClr val="171816"/>
                </a:solidFill>
                <a:latin typeface="Avenir Next"/>
                <a:ea typeface="Avenir Next"/>
                <a:cs typeface="Avenir Next"/>
              </a:rPr>
              <a:t>2  Sign in, then Pair your Mac</a:t>
            </a:r>
          </a:p>
        </p:txBody>
      </p:sp>
      <p:sp>
        <p:nvSpPr>
          <p:cNvPr id="7" name="text-qx67ge-66-374">
            <a:extLst xmlns:a="http://schemas.openxmlformats.org/drawingml/2006/main">
              <a:ext uri="{FF2B5EF4-FFF2-40B4-BE49-F238E27FC236}">
                <a16:creationId xmlns:a16="http://schemas.microsoft.com/office/drawing/2014/main" id="{DC58463D-5F5D-4D54-87DC-FB223B559519}"/>
              </a:ext>
            </a:extLst>
          </p:cNvPr>
          <p:cNvSpPr>
            <a:spLocks xmlns:a="http://schemas.openxmlformats.org/drawingml/2006/main" noGrp="1"/>
          </p:cNvSpPr>
          <p:nvPr/>
        </p:nvSpPr>
        <p:spPr>
          <a:xfrm xmlns:a="http://schemas.openxmlformats.org/drawingml/2006/main">
            <a:off x="628650" y="3562350"/>
            <a:ext cx="514350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171816"/>
                </a:solidFill>
                <a:latin typeface="Avenir Next"/>
                <a:ea typeface="Avenir Next"/>
                <a:cs typeface="Avenir Next"/>
              </a:defRPr>
            </a:pPr>
            <a:r>
              <a:rPr sz="1800" b="0" i="0">
                <a:solidFill>
                  <a:srgbClr val="171816"/>
                </a:solidFill>
                <a:latin typeface="Avenir Next"/>
                <a:ea typeface="Avenir Next"/>
                <a:cs typeface="Avenir Next"/>
              </a:rPr>
              <a:t>The secure studio address is prefilled.</a:t>
            </a:r>
          </a:p>
        </p:txBody>
      </p:sp>
      <p:sp>
        <p:nvSpPr>
          <p:cNvPr id="8" name="text-qx67ge-66-448">
            <a:extLst xmlns:a="http://schemas.openxmlformats.org/drawingml/2006/main">
              <a:ext uri="{FF2B5EF4-FFF2-40B4-BE49-F238E27FC236}">
                <a16:creationId xmlns:a16="http://schemas.microsoft.com/office/drawing/2014/main" id="{322E4A9B-7A95-4BFB-A539-2824AA28DCCA}"/>
              </a:ext>
            </a:extLst>
          </p:cNvPr>
          <p:cNvSpPr>
            <a:spLocks xmlns:a="http://schemas.openxmlformats.org/drawingml/2006/main" noGrp="1"/>
          </p:cNvSpPr>
          <p:nvPr/>
        </p:nvSpPr>
        <p:spPr>
          <a:xfrm xmlns:a="http://schemas.openxmlformats.org/drawingml/2006/main">
            <a:off x="628650" y="4267200"/>
            <a:ext cx="5238750" cy="4572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175" b="1" i="0">
                <a:solidFill>
                  <a:srgbClr val="171816"/>
                </a:solidFill>
                <a:latin typeface="Avenir Next"/>
                <a:ea typeface="Avenir Next"/>
                <a:cs typeface="Avenir Next"/>
              </a:defRPr>
            </a:pPr>
            <a:r>
              <a:rPr sz="2175" b="1" i="0">
                <a:solidFill>
                  <a:srgbClr val="171816"/>
                </a:solidFill>
                <a:latin typeface="Avenir Next"/>
                <a:ea typeface="Avenir Next"/>
                <a:cs typeface="Avenir Next"/>
              </a:rPr>
              <a:t>3  Connect the native Mac app</a:t>
            </a:r>
          </a:p>
        </p:txBody>
      </p:sp>
      <p:sp>
        <p:nvSpPr>
          <p:cNvPr id="9" name="text-qx67ge-66-499">
            <a:extLst xmlns:a="http://schemas.openxmlformats.org/drawingml/2006/main">
              <a:ext uri="{FF2B5EF4-FFF2-40B4-BE49-F238E27FC236}">
                <a16:creationId xmlns:a16="http://schemas.microsoft.com/office/drawing/2014/main" id="{00CA0507-6988-474E-A0FC-5D6FD6D6F7AD}"/>
              </a:ext>
            </a:extLst>
          </p:cNvPr>
          <p:cNvSpPr>
            <a:spLocks xmlns:a="http://schemas.openxmlformats.org/drawingml/2006/main" noGrp="1"/>
          </p:cNvSpPr>
          <p:nvPr/>
        </p:nvSpPr>
        <p:spPr>
          <a:xfrm xmlns:a="http://schemas.openxmlformats.org/drawingml/2006/main">
            <a:off x="628650" y="4752975"/>
            <a:ext cx="4953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75" b="0" i="0">
                <a:solidFill>
                  <a:srgbClr val="171816"/>
                </a:solidFill>
                <a:latin typeface="Avenir Next"/>
                <a:ea typeface="Avenir Next"/>
                <a:cs typeface="Avenir Next"/>
              </a:defRPr>
            </a:pPr>
            <a:r>
              <a:rPr sz="1875" b="0" i="0">
                <a:solidFill>
                  <a:srgbClr val="171816"/>
                </a:solidFill>
                <a:latin typeface="Avenir Next"/>
                <a:ea typeface="Avenir Next"/>
                <a:cs typeface="Avenir Next"/>
              </a:rPr>
              <a:t>Voice session / Connect</a:t>
            </a:r>
          </a:p>
        </p:txBody>
      </p:sp>
      <p:sp>
        <p:nvSpPr>
          <p:cNvPr id="10" name="text-qx67ge-66-540">
            <a:extLst xmlns:a="http://schemas.openxmlformats.org/drawingml/2006/main">
              <a:ext uri="{FF2B5EF4-FFF2-40B4-BE49-F238E27FC236}">
                <a16:creationId xmlns:a16="http://schemas.microsoft.com/office/drawing/2014/main" id="{7555E871-EADB-46E8-B516-3B7936572AC0}"/>
              </a:ext>
            </a:extLst>
          </p:cNvPr>
          <p:cNvSpPr>
            <a:spLocks xmlns:a="http://schemas.openxmlformats.org/drawingml/2006/main" noGrp="1"/>
          </p:cNvSpPr>
          <p:nvPr/>
        </p:nvSpPr>
        <p:spPr>
          <a:xfrm xmlns:a="http://schemas.openxmlformats.org/drawingml/2006/main">
            <a:off x="628650" y="5143500"/>
            <a:ext cx="52387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171816"/>
                </a:solidFill>
                <a:latin typeface="Avenir Next"/>
                <a:ea typeface="Avenir Next"/>
                <a:cs typeface="Avenir Next"/>
              </a:defRPr>
            </a:pPr>
            <a:r>
              <a:rPr sz="1800" b="0" i="0">
                <a:solidFill>
                  <a:srgbClr val="171816"/>
                </a:solidFill>
                <a:latin typeface="Avenir Next"/>
                <a:ea typeface="Avenir Next"/>
                <a:cs typeface="Avenir Next"/>
              </a:rPr>
              <a:t>http://127.0.0.1:8766/api/voice</a:t>
            </a:r>
          </a:p>
        </p:txBody>
      </p:sp>
      <p:sp>
        <p:nvSpPr>
          <p:cNvPr id="11" name="text-qx67ge-67-622">
            <a:extLst xmlns:a="http://schemas.openxmlformats.org/drawingml/2006/main">
              <a:ext uri="{FF2B5EF4-FFF2-40B4-BE49-F238E27FC236}">
                <a16:creationId xmlns:a16="http://schemas.microsoft.com/office/drawing/2014/main" id="{6CD8AE61-A217-4593-A4B9-E8A4EF6F65A1}"/>
              </a:ext>
            </a:extLst>
          </p:cNvPr>
          <p:cNvSpPr>
            <a:spLocks xmlns:a="http://schemas.openxmlformats.org/drawingml/2006/main" noGrp="1"/>
          </p:cNvSpPr>
          <p:nvPr/>
        </p:nvSpPr>
        <p:spPr>
          <a:xfrm xmlns:a="http://schemas.openxmlformats.org/drawingml/2006/main">
            <a:off x="638175" y="5924550"/>
            <a:ext cx="10953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725" b="1" i="0">
                <a:solidFill>
                  <a:srgbClr val="171816"/>
                </a:solidFill>
                <a:latin typeface="Avenir Next"/>
                <a:ea typeface="Avenir Next"/>
                <a:cs typeface="Avenir Next"/>
              </a:defRPr>
            </a:pPr>
            <a:r>
              <a:rPr sz="1725" b="1" i="0">
                <a:solidFill>
                  <a:srgbClr val="171816"/>
                </a:solidFill>
                <a:latin typeface="Avenir Next"/>
                <a:ea typeface="Avenir Next"/>
                <a:cs typeface="Avenir Next"/>
              </a:rPr>
              <a:t>Keep the Mac, backend, and secure tunnel running for the demo.</a:t>
            </a:r>
          </a:p>
        </p:txBody>
      </p:sp>
      <p:pic>
        <p:nvPicPr>
          <p:cNvPr id="25" name=""/>
          <p:cNvPicPr>
            <a:picLocks xmlns:a="http://schemas.openxmlformats.org/drawingml/2006/main" noChangeAspect="1"/>
          </p:cNvPicPr>
          <p:nvPr/>
        </p:nvPicPr>
        <p:blipFill>
          <a:blip xmlns:r="http://schemas.openxmlformats.org/officeDocument/2006/relationships" xmlns:a="http://schemas.openxmlformats.org/drawingml/2006/main" r:embed="Rcf1f21b043a74cc2"/>
          <a:stretch xmlns:a="http://schemas.openxmlformats.org/drawingml/2006/main"/>
        </p:blipFill>
        <p:spPr>
          <a:xfrm xmlns:a="http://schemas.openxmlformats.org/drawingml/2006/main">
            <a:off x="5943600" y="2200999"/>
            <a:ext cx="5638800" cy="2951302"/>
          </a:xfrm>
          <a:prstGeom xmlns:a="http://schemas.openxmlformats.org/drawingml/2006/main" prst="rect">
            <a:avLst/>
          </a:prstGeom>
        </p:spPr>
      </p:pic>
      <p:sp>
        <p:nvSpPr>
          <p:cNvPr id="13" name="text-qx67ge-626-580">
            <a:extLst xmlns:a="http://schemas.openxmlformats.org/drawingml/2006/main">
              <a:ext uri="{FF2B5EF4-FFF2-40B4-BE49-F238E27FC236}">
                <a16:creationId xmlns:a16="http://schemas.microsoft.com/office/drawing/2014/main" id="{161A6839-E618-4757-8540-BB5896F3C5EE}"/>
              </a:ext>
            </a:extLst>
          </p:cNvPr>
          <p:cNvSpPr>
            <a:spLocks xmlns:a="http://schemas.openxmlformats.org/drawingml/2006/main" noGrp="1"/>
          </p:cNvSpPr>
          <p:nvPr/>
        </p:nvSpPr>
        <p:spPr>
          <a:xfrm xmlns:a="http://schemas.openxmlformats.org/drawingml/2006/main">
            <a:off x="5962650" y="5524500"/>
            <a:ext cx="5476875"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575" b="0" i="0">
                <a:solidFill>
                  <a:srgbClr val="626357"/>
                </a:solidFill>
                <a:latin typeface="Avenir Next"/>
                <a:ea typeface="Avenir Next"/>
                <a:cs typeface="Avenir Next"/>
              </a:defRPr>
            </a:pPr>
            <a:r>
              <a:rPr sz="1575" b="0" i="0">
                <a:solidFill>
                  <a:srgbClr val="626357"/>
                </a:solidFill>
                <a:latin typeface="Avenir Next"/>
                <a:ea typeface="Avenir Next"/>
                <a:cs typeface="Avenir Next"/>
              </a:rPr>
              <a:t>Studio password sign-in. Music stays on the Mac.</a:t>
            </a:r>
          </a:p>
        </p:txBody>
      </p:sp>
    </p:spTree>
    <p:extLst>
      <p:ext uri="{BB962C8B-B14F-4D97-AF65-F5344CB8AC3E}">
        <p14:creationId xmlns:p14="http://schemas.microsoft.com/office/powerpoint/2010/main" val="522706350"/>
      </p:ext>
    </p:extLst>
  </p:cSld>
</p:sld>
</file>

<file path=ppt/slides/slide8.xml><?xml version="1.0" encoding="utf-8"?>
<p:sld xmlns:p="http://schemas.openxmlformats.org/presentationml/2006/main">
  <p:cSld>
    <p:bg>
      <p:bgPr>
        <a:solidFill xmlns:a="http://schemas.openxmlformats.org/drawingml/2006/main">
          <a:srgbClr val="171816"/>
        </a:solidFill>
      </p:bgPr>
    </p:bg>
    <p:spTree>
      <p:nvGrpSpPr>
        <p:cNvPr id="1" name=""/>
        <p:cNvGrpSpPr/>
        <p:nvPr/>
      </p:nvGrpSpPr>
      <p:grpSpPr>
        <a:xfrm xmlns:a="http://schemas.openxmlformats.org/drawingml/2006/main"/>
      </p:grpSpPr>
      <p:sp>
        <p:nvSpPr>
          <p:cNvPr id="10" name="text-5a5zsj-64-674">
            <a:extLst xmlns:a="http://schemas.openxmlformats.org/drawingml/2006/main">
              <a:ext uri="{FF2B5EF4-FFF2-40B4-BE49-F238E27FC236}">
                <a16:creationId xmlns:a16="http://schemas.microsoft.com/office/drawing/2014/main" id="{34A9F952-0A54-4928-84EE-0C475A7C9C1F}"/>
              </a:ext>
            </a:extLst>
          </p:cNvPr>
          <p:cNvSpPr>
            <a:spLocks xmlns:a="http://schemas.openxmlformats.org/drawingml/2006/main" noGrp="1"/>
          </p:cNvSpPr>
          <p:nvPr/>
        </p:nvSpPr>
        <p:spPr>
          <a:xfrm xmlns:a="http://schemas.openxmlformats.org/drawingml/2006/main">
            <a:off x="609600" y="6419850"/>
            <a:ext cx="76200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350" b="0" i="0">
                <a:solidFill>
                  <a:srgbClr val="B1B2A5"/>
                </a:solidFill>
                <a:latin typeface="Avenir Next"/>
                <a:ea typeface="Avenir Next"/>
                <a:cs typeface="Avenir Next"/>
              </a:defRPr>
            </a:pPr>
            <a:r>
              <a:rPr sz="1350" b="0" i="0">
                <a:solidFill>
                  <a:srgbClr val="B1B2A5"/>
                </a:solidFill>
                <a:latin typeface="Avenir Next"/>
                <a:ea typeface="Avenir Next"/>
                <a:cs typeface="Avenir Next"/>
              </a:rPr>
              <a:t>MixRoom / Demo appendix</a:t>
            </a:r>
          </a:p>
        </p:txBody>
      </p:sp>
      <p:sp>
        <p:nvSpPr>
          <p:cNvPr id="2" name="text-5a5zsj-1152-674">
            <a:extLst xmlns:a="http://schemas.openxmlformats.org/drawingml/2006/main">
              <a:ext uri="{FF2B5EF4-FFF2-40B4-BE49-F238E27FC236}">
                <a16:creationId xmlns:a16="http://schemas.microsoft.com/office/drawing/2014/main" id="{3C5A2EAF-A901-4EFD-B948-B95997A5B445}"/>
              </a:ext>
            </a:extLst>
          </p:cNvPr>
          <p:cNvSpPr>
            <a:spLocks xmlns:a="http://schemas.openxmlformats.org/drawingml/2006/main" noGrp="1"/>
          </p:cNvSpPr>
          <p:nvPr/>
        </p:nvSpPr>
        <p:spPr>
          <a:xfrm xmlns:a="http://schemas.openxmlformats.org/drawingml/2006/main">
            <a:off x="10972800" y="6419850"/>
            <a:ext cx="609600" cy="2476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r">
              <a:defRPr sz="1350" b="0" i="0">
                <a:solidFill>
                  <a:srgbClr val="B1B2A5"/>
                </a:solidFill>
                <a:latin typeface="Avenir Next"/>
                <a:ea typeface="Avenir Next"/>
                <a:cs typeface="Avenir Next"/>
              </a:defRPr>
            </a:pPr>
            <a:r>
              <a:rPr sz="1350" b="0" i="0">
                <a:solidFill>
                  <a:srgbClr val="B1B2A5"/>
                </a:solidFill>
                <a:latin typeface="Avenir Next"/>
                <a:ea typeface="Avenir Next"/>
                <a:cs typeface="Avenir Next"/>
              </a:rPr>
              <a:t>08</a:t>
            </a:r>
          </a:p>
        </p:txBody>
      </p:sp>
      <p:sp>
        <p:nvSpPr>
          <p:cNvPr id="3" name="text-5a5zsj-64-58">
            <a:extLst xmlns:a="http://schemas.openxmlformats.org/drawingml/2006/main">
              <a:ext uri="{FF2B5EF4-FFF2-40B4-BE49-F238E27FC236}">
                <a16:creationId xmlns:a16="http://schemas.microsoft.com/office/drawing/2014/main" id="{E9EC7416-8B39-49AB-AF7D-0EA51E55662D}"/>
              </a:ext>
            </a:extLst>
          </p:cNvPr>
          <p:cNvSpPr>
            <a:spLocks xmlns:a="http://schemas.openxmlformats.org/drawingml/2006/main" noGrp="1"/>
          </p:cNvSpPr>
          <p:nvPr/>
        </p:nvSpPr>
        <p:spPr>
          <a:xfrm xmlns:a="http://schemas.openxmlformats.org/drawingml/2006/main">
            <a:off x="609600" y="552450"/>
            <a:ext cx="109728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4050" b="0" i="0">
                <a:solidFill>
                  <a:srgbClr val="F1EFE6"/>
                </a:solidFill>
                <a:latin typeface="Georgia"/>
                <a:ea typeface="Georgia"/>
                <a:cs typeface="Georgia"/>
              </a:defRPr>
            </a:pPr>
            <a:r>
              <a:rPr sz="4050" b="0" i="0">
                <a:solidFill>
                  <a:srgbClr val="F1EFE6"/>
                </a:solidFill>
                <a:latin typeface="Georgia"/>
                <a:ea typeface="Georgia"/>
                <a:cs typeface="Georgia"/>
              </a:rPr>
              <a:t>What we have verified</a:t>
            </a:r>
          </a:p>
        </p:txBody>
      </p:sp>
      <p:sp>
        <p:nvSpPr>
          <p:cNvPr id="4" name="text-5a5zsj-66-144">
            <a:extLst xmlns:a="http://schemas.openxmlformats.org/drawingml/2006/main">
              <a:ext uri="{FF2B5EF4-FFF2-40B4-BE49-F238E27FC236}">
                <a16:creationId xmlns:a16="http://schemas.microsoft.com/office/drawing/2014/main" id="{9B88E1E4-B5DD-46EF-94D3-47E4F3465AF7}"/>
              </a:ext>
            </a:extLst>
          </p:cNvPr>
          <p:cNvSpPr>
            <a:spLocks xmlns:a="http://schemas.openxmlformats.org/drawingml/2006/main" noGrp="1"/>
          </p:cNvSpPr>
          <p:nvPr/>
        </p:nvSpPr>
        <p:spPr>
          <a:xfrm xmlns:a="http://schemas.openxmlformats.org/drawingml/2006/main">
            <a:off x="628650" y="1371600"/>
            <a:ext cx="10572750" cy="495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800" b="0" i="0">
                <a:solidFill>
                  <a:srgbClr val="B1B2A5"/>
                </a:solidFill>
                <a:latin typeface="Avenir Next"/>
                <a:ea typeface="Avenir Next"/>
                <a:cs typeface="Avenir Next"/>
              </a:defRPr>
            </a:pPr>
            <a:r>
              <a:rPr sz="1800" b="0" i="0">
                <a:solidFill>
                  <a:srgbClr val="B1B2A5"/>
                </a:solidFill>
                <a:latin typeface="Avenir Next"/>
                <a:ea typeface="Avenir Next"/>
                <a:cs typeface="Avenir Next"/>
              </a:rPr>
              <a:t>Status on October 1, 2026</a:t>
            </a:r>
          </a:p>
        </p:txBody>
      </p:sp>
      <p:sp>
        <p:nvSpPr>
          <p:cNvPr id="5" name="text-5a5zsj-65-209">
            <a:extLst xmlns:a="http://schemas.openxmlformats.org/drawingml/2006/main">
              <a:ext uri="{FF2B5EF4-FFF2-40B4-BE49-F238E27FC236}">
                <a16:creationId xmlns:a16="http://schemas.microsoft.com/office/drawing/2014/main" id="{3468F70B-B3C5-4F06-9BE2-1DCE0E73D2FC}"/>
              </a:ext>
            </a:extLst>
          </p:cNvPr>
          <p:cNvSpPr>
            <a:spLocks xmlns:a="http://schemas.openxmlformats.org/drawingml/2006/main" noGrp="1"/>
          </p:cNvSpPr>
          <p:nvPr/>
        </p:nvSpPr>
        <p:spPr>
          <a:xfrm xmlns:a="http://schemas.openxmlformats.org/drawingml/2006/main">
            <a:off x="619125" y="1990725"/>
            <a:ext cx="5286375"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i="0">
                <a:solidFill>
                  <a:srgbClr val="E7C16B"/>
                </a:solidFill>
                <a:latin typeface="Avenir Next"/>
                <a:ea typeface="Avenir Next"/>
                <a:cs typeface="Avenir Next"/>
              </a:defRPr>
            </a:pPr>
            <a:r>
              <a:rPr sz="2550" b="1" i="0">
                <a:solidFill>
                  <a:srgbClr val="E7C16B"/>
                </a:solidFill>
                <a:latin typeface="Avenir Next"/>
                <a:ea typeface="Avenir Next"/>
                <a:cs typeface="Avenir Next"/>
              </a:rPr>
              <a:t>Checked</a:t>
            </a:r>
          </a:p>
        </p:txBody>
      </p:sp>
      <p:sp>
        <p:nvSpPr>
          <p:cNvPr id="6" name="text-5a5zsj-67-279">
            <a:extLst xmlns:a="http://schemas.openxmlformats.org/drawingml/2006/main">
              <a:ext uri="{FF2B5EF4-FFF2-40B4-BE49-F238E27FC236}">
                <a16:creationId xmlns:a16="http://schemas.microsoft.com/office/drawing/2014/main" id="{1798E6FE-484A-4FCF-82FD-1C0A0D63B6A5}"/>
              </a:ext>
            </a:extLst>
          </p:cNvPr>
          <p:cNvSpPr>
            <a:spLocks xmlns:a="http://schemas.openxmlformats.org/drawingml/2006/main" noGrp="1"/>
          </p:cNvSpPr>
          <p:nvPr/>
        </p:nvSpPr>
        <p:spPr>
          <a:xfrm xmlns:a="http://schemas.openxmlformats.org/drawingml/2006/main">
            <a:off x="638175" y="2657475"/>
            <a:ext cx="5219700" cy="3048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i="0">
                <a:solidFill>
                  <a:srgbClr val="F1EFE6"/>
                </a:solidFill>
                <a:latin typeface="Avenir Next"/>
                <a:ea typeface="Avenir Next"/>
                <a:cs typeface="Avenir Next"/>
              </a:defRPr>
            </a:pPr>
            <a:r>
              <a:rPr sz="2025" b="0" i="0">
                <a:solidFill>
                  <a:srgbClr val="F1EFE6"/>
                </a:solidFill>
                <a:latin typeface="Avenir Next"/>
                <a:ea typeface="Avenir Next"/>
                <a:cs typeface="Avenir Next"/>
              </a:rPr>
              <a:t>Native Mac build and launch</a:t>
            </a:r>
          </a:p>
          <a:p xmlns:a="http://schemas.openxmlformats.org/drawingml/2006/main">
            <a:pPr algn="l">
              <a:defRPr sz="2025" b="0" i="0">
                <a:solidFill>
                  <a:srgbClr val="F1EFE6"/>
                </a:solidFill>
                <a:latin typeface="Avenir Next"/>
                <a:ea typeface="Avenir Next"/>
                <a:cs typeface="Avenir Next"/>
              </a:defRPr>
            </a:pPr>
            <a:r>
              <a:rPr sz="2025" b="0" i="0">
                <a:solidFill>
                  <a:srgbClr val="F1EFE6"/>
                </a:solidFill>
                <a:latin typeface="Avenir Next"/>
                <a:ea typeface="Avenir Next"/>
                <a:cs typeface="Avenir Next"/>
              </a:rPr>
              <a:t>19 native tests</a:t>
            </a:r>
          </a:p>
          <a:p xmlns:a="http://schemas.openxmlformats.org/drawingml/2006/main">
            <a:pPr algn="l">
              <a:defRPr sz="2025" b="0" i="0">
                <a:solidFill>
                  <a:srgbClr val="F1EFE6"/>
                </a:solidFill>
                <a:latin typeface="Avenir Next"/>
                <a:ea typeface="Avenir Next"/>
                <a:cs typeface="Avenir Next"/>
              </a:defRPr>
            </a:pPr>
            <a:r>
              <a:rPr sz="2025" b="0" i="0">
                <a:solidFill>
                  <a:srgbClr val="F1EFE6"/>
                </a:solidFill>
                <a:latin typeface="Avenir Next"/>
                <a:ea typeface="Avenir Next"/>
                <a:cs typeface="Avenir Next"/>
              </a:rPr>
              <a:t>36 browser tests</a:t>
            </a:r>
          </a:p>
          <a:p xmlns:a="http://schemas.openxmlformats.org/drawingml/2006/main">
            <a:pPr algn="l">
              <a:defRPr sz="2025" b="0" i="0">
                <a:solidFill>
                  <a:srgbClr val="F1EFE6"/>
                </a:solidFill>
                <a:latin typeface="Avenir Next"/>
                <a:ea typeface="Avenir Next"/>
                <a:cs typeface="Avenir Next"/>
              </a:defRPr>
            </a:pPr>
            <a:r>
              <a:rPr sz="2025" b="0" i="0">
                <a:solidFill>
                  <a:srgbClr val="F1EFE6"/>
                </a:solidFill>
                <a:latin typeface="Avenir Next"/>
                <a:ea typeface="Avenir Next"/>
                <a:cs typeface="Avenir Next"/>
              </a:rPr>
              <a:t>37 backend tests</a:t>
            </a:r>
          </a:p>
          <a:p xmlns:a="http://schemas.openxmlformats.org/drawingml/2006/main">
            <a:pPr algn="l">
              <a:defRPr sz="2025" b="0" i="0">
                <a:solidFill>
                  <a:srgbClr val="F1EFE6"/>
                </a:solidFill>
                <a:latin typeface="Avenir Next"/>
                <a:ea typeface="Avenir Next"/>
                <a:cs typeface="Avenir Next"/>
              </a:defRPr>
            </a:pPr>
            <a:r>
              <a:rPr sz="2025" b="0" i="0">
                <a:solidFill>
                  <a:srgbClr val="F1EFE6"/>
                </a:solidFill>
                <a:latin typeface="Avenir Next"/>
                <a:ea typeface="Avenir Next"/>
                <a:cs typeface="Avenir Next"/>
              </a:rPr>
              <a:t>9 real OpenAI planning requests</a:t>
            </a:r>
          </a:p>
          <a:p xmlns:a="http://schemas.openxmlformats.org/drawingml/2006/main">
            <a:pPr algn="l">
              <a:defRPr sz="2025" b="0" i="0">
                <a:solidFill>
                  <a:srgbClr val="F1EFE6"/>
                </a:solidFill>
                <a:latin typeface="Avenir Next"/>
                <a:ea typeface="Avenir Next"/>
                <a:cs typeface="Avenir Next"/>
              </a:defRPr>
            </a:pPr>
            <a:r>
              <a:rPr sz="2025" b="0" i="0">
                <a:solidFill>
                  <a:srgbClr val="F1EFE6"/>
                </a:solidFill>
                <a:latin typeface="Avenir Next"/>
                <a:ea typeface="Avenir Next"/>
                <a:cs typeface="Avenir Next"/>
              </a:rPr>
              <a:t>ElevenLabs speech checks</a:t>
            </a:r>
          </a:p>
          <a:p xmlns:a="http://schemas.openxmlformats.org/drawingml/2006/main">
            <a:pPr algn="l">
              <a:defRPr sz="2025" b="0" i="0">
                <a:solidFill>
                  <a:srgbClr val="F1EFE6"/>
                </a:solidFill>
                <a:latin typeface="Avenir Next"/>
                <a:ea typeface="Avenir Next"/>
                <a:cs typeface="Avenir Next"/>
              </a:defRPr>
            </a:pPr>
            <a:r>
              <a:rPr sz="2025" b="0" i="0">
                <a:solidFill>
                  <a:srgbClr val="F1EFE6"/>
                </a:solidFill>
                <a:latin typeface="Avenir Next"/>
                <a:ea typeface="Avenir Next"/>
                <a:cs typeface="Avenir Next"/>
              </a:rPr>
              <a:t>8 pitches in a melody fixture</a:t>
            </a:r>
          </a:p>
          <a:p xmlns:a="http://schemas.openxmlformats.org/drawingml/2006/main">
            <a:pPr algn="l">
              <a:defRPr sz="2025" b="0" i="0">
                <a:solidFill>
                  <a:srgbClr val="F1EFE6"/>
                </a:solidFill>
                <a:latin typeface="Avenir Next"/>
                <a:ea typeface="Avenir Next"/>
                <a:cs typeface="Avenir Next"/>
              </a:defRPr>
            </a:pPr>
            <a:r>
              <a:rPr sz="2025" b="0" i="0">
                <a:solidFill>
                  <a:srgbClr val="F1EFE6"/>
                </a:solidFill>
                <a:latin typeface="Avenir Next"/>
                <a:ea typeface="Avenir Next"/>
                <a:cs typeface="Avenir Next"/>
              </a:rPr>
              <a:t>Public login and pairing code</a:t>
            </a:r>
          </a:p>
          <a:p xmlns:a="http://schemas.openxmlformats.org/drawingml/2006/main">
            <a:pPr algn="l">
              <a:defRPr sz="2025" b="0" i="0">
                <a:solidFill>
                  <a:srgbClr val="F1EFE6"/>
                </a:solidFill>
                <a:latin typeface="Avenir Next"/>
                <a:ea typeface="Avenir Next"/>
                <a:cs typeface="Avenir Next"/>
              </a:defRPr>
            </a:pPr>
            <a:r>
              <a:rPr sz="2025" b="0" i="0">
                <a:solidFill>
                  <a:srgbClr val="F1EFE6"/>
                </a:solidFill>
                <a:latin typeface="Avenir Next"/>
                <a:ea typeface="Avenir Next"/>
                <a:cs typeface="Avenir Next"/>
              </a:rPr>
              <a:t>Lovable site published</a:t>
            </a:r>
          </a:p>
        </p:txBody>
      </p:sp>
      <p:sp>
        <p:nvSpPr>
          <p:cNvPr id="7" name="text-5a5zsj-680-209">
            <a:extLst xmlns:a="http://schemas.openxmlformats.org/drawingml/2006/main">
              <a:ext uri="{FF2B5EF4-FFF2-40B4-BE49-F238E27FC236}">
                <a16:creationId xmlns:a16="http://schemas.microsoft.com/office/drawing/2014/main" id="{179C1F55-60FF-4653-92D6-284E78E30A9F}"/>
              </a:ext>
            </a:extLst>
          </p:cNvPr>
          <p:cNvSpPr>
            <a:spLocks xmlns:a="http://schemas.openxmlformats.org/drawingml/2006/main" noGrp="1"/>
          </p:cNvSpPr>
          <p:nvPr/>
        </p:nvSpPr>
        <p:spPr>
          <a:xfrm xmlns:a="http://schemas.openxmlformats.org/drawingml/2006/main">
            <a:off x="6477000" y="1990725"/>
            <a:ext cx="5143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550" b="1" i="0">
                <a:solidFill>
                  <a:srgbClr val="E7C16B"/>
                </a:solidFill>
                <a:latin typeface="Avenir Next"/>
                <a:ea typeface="Avenir Next"/>
                <a:cs typeface="Avenir Next"/>
              </a:defRPr>
            </a:pPr>
            <a:r>
              <a:rPr sz="2550" b="1" i="0">
                <a:solidFill>
                  <a:srgbClr val="E7C16B"/>
                </a:solidFill>
                <a:latin typeface="Avenir Next"/>
                <a:ea typeface="Avenir Next"/>
                <a:cs typeface="Avenir Next"/>
              </a:rPr>
              <a:t>Still to complete</a:t>
            </a:r>
          </a:p>
        </p:txBody>
      </p:sp>
      <p:sp>
        <p:nvSpPr>
          <p:cNvPr id="8" name="text-5a5zsj-682-279">
            <a:extLst xmlns:a="http://schemas.openxmlformats.org/drawingml/2006/main">
              <a:ext uri="{FF2B5EF4-FFF2-40B4-BE49-F238E27FC236}">
                <a16:creationId xmlns:a16="http://schemas.microsoft.com/office/drawing/2014/main" id="{923565C2-83B7-4C86-A641-239E09DE29D0}"/>
              </a:ext>
            </a:extLst>
          </p:cNvPr>
          <p:cNvSpPr>
            <a:spLocks xmlns:a="http://schemas.openxmlformats.org/drawingml/2006/main" noGrp="1"/>
          </p:cNvSpPr>
          <p:nvPr/>
        </p:nvSpPr>
        <p:spPr>
          <a:xfrm xmlns:a="http://schemas.openxmlformats.org/drawingml/2006/main">
            <a:off x="6496050" y="2657475"/>
            <a:ext cx="4905375" cy="2333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2025" b="0" i="0">
                <a:solidFill>
                  <a:srgbClr val="F1EFE6"/>
                </a:solidFill>
                <a:latin typeface="Avenir Next"/>
                <a:ea typeface="Avenir Next"/>
                <a:cs typeface="Avenir Next"/>
              </a:defRPr>
            </a:pPr>
            <a:r>
              <a:rPr sz="2025" b="0" i="0">
                <a:solidFill>
                  <a:srgbClr val="F1EFE6"/>
                </a:solidFill>
                <a:latin typeface="Avenir Next"/>
                <a:ea typeface="Avenir Next"/>
                <a:cs typeface="Avenir Next"/>
              </a:rPr>
              <a:t>Native pairing and microphone tests</a:t>
            </a:r>
          </a:p>
          <a:p xmlns:a="http://schemas.openxmlformats.org/drawingml/2006/main">
            <a:pPr algn="l">
              <a:defRPr sz="2025" b="0" i="0">
                <a:solidFill>
                  <a:srgbClr val="F1EFE6"/>
                </a:solidFill>
                <a:latin typeface="Avenir Next"/>
                <a:ea typeface="Avenir Next"/>
                <a:cs typeface="Avenir Next"/>
              </a:defRPr>
            </a:pPr>
            <a:r>
              <a:rPr sz="2025" b="0" i="0">
                <a:solidFill>
                  <a:srgbClr val="F1EFE6"/>
                </a:solidFill>
                <a:latin typeface="Avenir Next"/>
                <a:ea typeface="Avenir Next"/>
                <a:cs typeface="Avenir Next"/>
              </a:rPr>
              <a:t>Live humming and audible A/B</a:t>
            </a:r>
          </a:p>
          <a:p xmlns:a="http://schemas.openxmlformats.org/drawingml/2006/main">
            <a:pPr algn="l">
              <a:defRPr sz="2025" b="0" i="0">
                <a:solidFill>
                  <a:srgbClr val="F1EFE6"/>
                </a:solidFill>
                <a:latin typeface="Avenir Next"/>
                <a:ea typeface="Avenir Next"/>
                <a:cs typeface="Avenir Next"/>
              </a:defRPr>
            </a:pPr>
            <a:r>
              <a:rPr sz="2025" b="0" i="0">
                <a:solidFill>
                  <a:srgbClr val="F1EFE6"/>
                </a:solidFill>
                <a:latin typeface="Avenir Next"/>
                <a:ea typeface="Avenir Next"/>
                <a:cs typeface="Avenir Next"/>
              </a:rPr>
              <a:t>Customer and pricing validation</a:t>
            </a:r>
          </a:p>
        </p:txBody>
      </p:sp>
      <p:sp>
        <p:nvSpPr>
          <p:cNvPr id="9" name="text-5a5zsj-682-557">
            <a:extLst xmlns:a="http://schemas.openxmlformats.org/drawingml/2006/main">
              <a:ext uri="{FF2B5EF4-FFF2-40B4-BE49-F238E27FC236}">
                <a16:creationId xmlns:a16="http://schemas.microsoft.com/office/drawing/2014/main" id="{C689DBAA-45A6-41D9-83AA-7CBE1E2CC9CD}"/>
              </a:ext>
            </a:extLst>
          </p:cNvPr>
          <p:cNvSpPr>
            <a:spLocks xmlns:a="http://schemas.openxmlformats.org/drawingml/2006/main" noGrp="1"/>
          </p:cNvSpPr>
          <p:nvPr/>
        </p:nvSpPr>
        <p:spPr>
          <a:xfrm xmlns:a="http://schemas.openxmlformats.org/drawingml/2006/main">
            <a:off x="6496050" y="5305425"/>
            <a:ext cx="4857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wrap="square" lIns="0" tIns="0" rIns="0" bIns="0" anchor="t">
            <a:noAutofit/>
          </a:bodyPr>
          <a:lstStyle xmlns:a="http://schemas.openxmlformats.org/drawingml/2006/main"/>
          <a:p xmlns:a="http://schemas.openxmlformats.org/drawingml/2006/main">
            <a:pPr algn="l">
              <a:defRPr sz="1950" b="0" i="0">
                <a:solidFill>
                  <a:srgbClr val="B1B2A5"/>
                </a:solidFill>
                <a:latin typeface="Avenir Next"/>
                <a:ea typeface="Avenir Next"/>
                <a:cs typeface="Avenir Next"/>
              </a:defRPr>
            </a:pPr>
            <a:r>
              <a:rPr sz="1950" b="0" i="0">
                <a:solidFill>
                  <a:srgbClr val="B1B2A5"/>
                </a:solidFill>
                <a:latin typeface="Avenir Next"/>
                <a:ea typeface="Avenir Next"/>
                <a:cs typeface="Avenir Next"/>
              </a:rPr>
              <a:t>Jev is not configured</a:t>
            </a:r>
          </a:p>
        </p:txBody>
      </p:sp>
    </p:spTree>
    <p:extLst>
      <p:ext uri="{BB962C8B-B14F-4D97-AF65-F5344CB8AC3E}">
        <p14:creationId xmlns:p14="http://schemas.microsoft.com/office/powerpoint/2010/main" val="729104940"/>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2026-10-01T06:38:07.6140000Z</dcterms:created>
  <dcterms:modified xsi:type="dcterms:W3CDTF">2026-10-01T06:38:07.6140000Z</dcterms:modified>
</coreProperties>
</file>